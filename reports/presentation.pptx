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png" ContentType="image/png"/>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7fc4fcb7caaf4f45" /><Relationship Type="http://schemas.openxmlformats.org/package/2006/relationships/metadata/core-properties" Target="/docProps/core.xml" Id="R3ef1aa8c641c49c1" /><Relationship Type="http://schemas.openxmlformats.org/officeDocument/2006/relationships/extended-properties" Target="/docProps/app.xml" Id="R79ea13d5f5734253" /><Relationship Type="http://schemas.openxmlformats.org/officeDocument/2006/relationships/custom-properties" Target="/docProps/custom.xml" Id="R0e3c3cc9e91c4698"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4e5dfe3e86c04b1b"/>
  </p:notesMasterIdLst>
  <p:sldIdLst>
    <p:sldId id="256" r:id="R2b2e59def0cf47d5"/>
    <p:sldId id="257" r:id="Rd80e69961a504ea7"/>
    <p:sldId id="258" r:id="Rdd1f3e3db8954b21"/>
    <p:sldId id="259" r:id="Rf1f3284f40fe419d"/>
    <p:sldId id="260" r:id="R1506bef5b2f045fd"/>
    <p:sldId id="261" r:id="R8ce73c43b6414f7e"/>
    <p:sldId id="262" r:id="R5af11ec279ee4931"/>
    <p:sldId id="263" r:id="R7e031dd35b674a0f"/>
    <p:sldId id="264" r:id="R396ddf4c01484818"/>
    <p:sldId id="265" r:id="R2d67ddd485704c9f"/>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2b2e59def0cf47d5" /><Relationship Type="http://schemas.openxmlformats.org/officeDocument/2006/relationships/notesMaster" Target="/ppt/notesMasters/notesMaster1.xml" Id="R4e5dfe3e86c04b1b" /><Relationship Type="http://schemas.openxmlformats.org/officeDocument/2006/relationships/slide" Target="/ppt/slides/slide2.xml" Id="Rd80e69961a504ea7" /><Relationship Type="http://schemas.openxmlformats.org/officeDocument/2006/relationships/slide" Target="/ppt/slides/slide3.xml" Id="Rdd1f3e3db8954b21" /><Relationship Type="http://schemas.openxmlformats.org/officeDocument/2006/relationships/slide" Target="/ppt/slides/slide4.xml" Id="Rf1f3284f40fe419d" /><Relationship Type="http://schemas.openxmlformats.org/officeDocument/2006/relationships/slide" Target="/ppt/slides/slide5.xml" Id="R1506bef5b2f045fd" /><Relationship Type="http://schemas.openxmlformats.org/officeDocument/2006/relationships/slide" Target="/ppt/slides/slide6.xml" Id="R8ce73c43b6414f7e" /><Relationship Type="http://schemas.openxmlformats.org/officeDocument/2006/relationships/slide" Target="/ppt/slides/slide7.xml" Id="R5af11ec279ee4931" /><Relationship Type="http://schemas.openxmlformats.org/officeDocument/2006/relationships/slide" Target="/ppt/slides/slide8.xml" Id="R7e031dd35b674a0f" /><Relationship Type="http://schemas.openxmlformats.org/officeDocument/2006/relationships/slide" Target="/ppt/slides/slide9.xml" Id="R396ddf4c01484818" /><Relationship Type="http://schemas.openxmlformats.org/officeDocument/2006/relationships/slide" Target="/ppt/slides/slide10.xml" Id="R2d67ddd485704c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287527ff561e464d"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ac73ce73a3044814" /><Relationship Type="http://schemas.openxmlformats.org/officeDocument/2006/relationships/slide" Target="/ppt/slides/slide1.xml" Id="Rc4fea9b8c84744af"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b2ec60ab56d04e03" /><Relationship Type="http://schemas.openxmlformats.org/officeDocument/2006/relationships/slide" Target="/ppt/slides/slide2.xml" Id="Rcd78d988acab4952"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faf38e8d1b9949b8" /><Relationship Type="http://schemas.openxmlformats.org/officeDocument/2006/relationships/slide" Target="/ppt/slides/slide3.xml" Id="R4fbd583ba6874c7e"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d37b9d6b481b4a7f" /><Relationship Type="http://schemas.openxmlformats.org/officeDocument/2006/relationships/slide" Target="/ppt/slides/slide4.xml" Id="Rdca83e9a3c43455e"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1d427f79db2644cf" /><Relationship Type="http://schemas.openxmlformats.org/officeDocument/2006/relationships/slide" Target="/ppt/slides/slide5.xml" Id="Reac4627164b54093"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80a8e46fdf1e4622" /><Relationship Type="http://schemas.openxmlformats.org/officeDocument/2006/relationships/slide" Target="/ppt/slides/slide6.xml" Id="Rc919cdc945a64abc"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dae1de4685c24078" /><Relationship Type="http://schemas.openxmlformats.org/officeDocument/2006/relationships/slide" Target="/ppt/slides/slide7.xml" Id="R3ec64ad5e9694146"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d21c54ed2c994761" /><Relationship Type="http://schemas.openxmlformats.org/officeDocument/2006/relationships/slide" Target="/ppt/slides/slide8.xml" Id="R0de3ea9feb2e4629"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a1fa7f0ca405462f" /><Relationship Type="http://schemas.openxmlformats.org/officeDocument/2006/relationships/slide" Target="/ppt/slides/slide9.xml" Id="R1a6048f545774986"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c6a1e1ac41f847dd" /><Relationship Type="http://schemas.openxmlformats.org/officeDocument/2006/relationships/slide" Target="/ppt/slides/slide10.xml" Id="R65350ee884df43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Good morning, panel. The project I will be presenting today addresses one of the most structurally complex challenges in contemporary automotive engineering management: how do OEMs rationalise their portfolios to simultaneously achieve net-zero regulatory compliance, urban mobility efficiency targets, and actuarial insurance risk competitiveness? Our investigation delivers a rigorous, data-driven answer using a five-module Python pipeline built on the CRISP-DM methodology, and the findings carry precise, actionable implications for OEM product planning.</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problem this research addresses originates in a structural tension that every major OEM is currently navigating. On one side: CAFE 2026 targets a 49 MPG fleet-average, EU Regulation 2019/631 mandates a 37.5% CO2 reduction by 2030, and more than 320 European cities have deployed or committed to Low-Emission Zone restrictions. On the other side: performance-oriented vehicle portfolios continue to escalate in curb weight, horsepower, and displacement — precisely the attributes that drive non-compliance. Our investigation quantifies the attribute-level dynamics that determine which zone a given vehicle occupies.</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Our literature review identified three well-developed but entirely siloed bodies of work. Structural vehicle optimisation quantifies powertrain and mass efficiency gains in isolation. Environmental economics models fleet CO2 compliance without engaging vehicle-level attribute interactions. Actuarial risk analysis assigns symboling scores without examining the engineering root causes. None of these corpora connect to each other at the portfolio level — the red gap box at the centre of this slide illustrates exactly that. Our four research objectives are designed to populate that intersection with quantified, actionable findings.</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technical backbone of this investigation is a five-module Python pipeline structured around the CRISP-DM framework. The pipeline moves from business objective definition through data understanding, preparation, feature engineering, evaluation, and deployment as a Gradio web application. The dataset comprises 40 records across 14 vehicle attributes spanning six manufacturer makes. All values are generated with a fixed seed of 42, making every figure and result in this paper fully reproducible from the published codebase. The pipeline confirms zero residual NaN values after imputation before proceeding to any analytical stage.</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Missing value imputation is a methodologically consequential decision in any portfolio analysis. A naive global mean substitution would artificially collapse inter-brand variance, distorting correlation coefficients downstream. Our Iterative Conditional Median Profiling strategy applies the brand-specific conditional median within each manufacturer group as the primary fill value. Only when an entire manufacturer group is null — which did not occur in this dataset — does the algorithm fall back to the global median. The outcome panel confirms: 18 missing cells treated, 18 resolved by Tier 1, zero by Tier 2, zero residual NaN remaining.</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presents the Pearson correlation heatmap computed across the five primary engineering and actuarial variables. Three cells deserve particular attention. First, the curb-weight–horsepower correlation of approximately positive 0.74 confirms the self-reinforcing mass-power spiral: heavier vehicles receive larger powertrains, which increases fuel consumption beyond the mass penalty alone. Second, the horsepower–symboling correlation of positive 0.54 is the central actuarial finding: insurance risk scales consistently with powertrain output. Third, width and curb weight at positive 0.86 reveal that body size growth is the primary mass driver, making dimensional restraint a necessary condition for meeting weight threshold targets.</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regression scatterplot presents perhaps the most commercially actionable finding of our investigation. Blue circles are standard naturally aspirated configurations, red triangles are turbocharged. The OLS regression lines for each group reveal a consistent vertical separation: at any given engine displacement, turbocharged vehicles consume more than 22% less fuel per 100 kilometres in city-cycle conditions. The Pearson coefficient of positive 0.87 between engine size and city-cycle consumption confirms that displacement is the dominant fuel efficiency predictor at portfolio scale. The physical explanation: turbocharged engines operate near their thermodynamic efficiency optimum at precisely the part-load conditions that characterise urban driving.</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quantifies the curb-weight efficiency penalty with a precision that aggregate fleet statistics obscure. The OLS regression line — with a slope of negative 0.008 MPG per kilogram — tells us that every 100 kg of additional structural mass costs approximately 0.8 MPG in highway efficiency. The red dashed reference line at 1,650 kg identifies the critical threshold above which vehicles consistently fall below the 7.5 litres-per-100-kilometre benchmark. The Pearson coefficient of negative 0.76 confirms this is not a noisy relationship: it is a strong, consistent, cross-manufacturer pattern. Because mass and horsepower co-vary at positive 0.74, weight reduction programmes must be paired with powertrain downsizing to deliver their full efficiency benefit.</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presents the actuarial risk pricing mismatch — perhaps the most commercially novel finding of our investigation. The stacked bar chart shows the distribution of vehicle horsepower across all symboling risk categories. Approximately 78% of vehicles assigned the maximum risk scores of positive 2 or positive 3 have powertrains above 150 BHP. The Pearson coefficient of positive 0.54 quantifies this association. The cost table translates this into fleet operator and consumer terms: a symboling shift from 0 to positive 2 carries an insurance premium delta of 22 to 35 percent. Sub-150 BHP turbocharged configurations are both more efficient and actuarially safer — yet this combination is largely absent from current premium portfolios.</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To close, I present the three strategic recommendations that flow directly from our findings. Strategy 1: a binding constraint against naturally aspirated engines above 2.0 litres is projected to reduce fleet CO2 intensity by 12 to 18 percent, placing most OEM portfolios within striking distance of the 2030 EU mandate. Strategy 2: a 1,650 kilogram curb-weight ceiling for fleet-channel programmes, achievable through composite lightweighting, eliminates the non-compliance exposure shown in the previous slide. Strategy 3: integrating symboling risk projection into product sign-off creates a measurable total-cost-of-ownership advantage in fleet procurement. The BEV roadmap shows how the CRISP-DM pipeline extends naturally to BEV portfolio intelligence. Thank you — I welcome your questions.</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8ddb29279849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040412cceb42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2fda22465a4f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24107cbbd244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c3bf63ae40748af"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0e9130356d1d41a7"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667a944cdfe24ee0" /><Relationship Type="http://schemas.openxmlformats.org/officeDocument/2006/relationships/notesSlide" Target="/ppt/notesSlides/notesSlide1.xml" Id="R910bb12a07884115" /><Relationship Type="http://schemas.openxmlformats.org/officeDocument/2006/relationships/image" Target="/ppt/media/image5.png" Id="Rb0162062cfcd47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9d1c59fcda4058" /><Relationship Type="http://schemas.openxmlformats.org/officeDocument/2006/relationships/notesSlide" Target="/ppt/notesSlides/notesSlide2.xml" Id="Rdd3748374646417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8651cb3f964090" /><Relationship Type="http://schemas.openxmlformats.org/officeDocument/2006/relationships/notesSlide" Target="/ppt/notesSlides/notesSlide3.xml" Id="Ra8f0f22115f64e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04cf82b09942e5" /><Relationship Type="http://schemas.openxmlformats.org/officeDocument/2006/relationships/notesSlide" Target="/ppt/notesSlides/notesSlide4.xml" Id="R358d7e92e3044e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337b7fd779e4474" /><Relationship Type="http://schemas.openxmlformats.org/officeDocument/2006/relationships/notesSlide" Target="/ppt/notesSlides/notesSlide5.xml" Id="Rc3059ebf275e446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c57f21c86841c6" /><Relationship Type="http://schemas.openxmlformats.org/officeDocument/2006/relationships/notesSlide" Target="/ppt/notesSlides/notesSlide6.xml" Id="Rdc28ae6e566f4f92" /><Relationship Type="http://schemas.openxmlformats.org/officeDocument/2006/relationships/image" Target="/ppt/media/image.png" Id="R0c38ba81b94a46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b02379f1c8a4ddb" /><Relationship Type="http://schemas.openxmlformats.org/officeDocument/2006/relationships/notesSlide" Target="/ppt/notesSlides/notesSlide7.xml" Id="Rcc920f6fb30d4c0b" /><Relationship Type="http://schemas.openxmlformats.org/officeDocument/2006/relationships/image" Target="/ppt/media/image2.png" Id="R0c5ff5da487748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721684c67554285" /><Relationship Type="http://schemas.openxmlformats.org/officeDocument/2006/relationships/notesSlide" Target="/ppt/notesSlides/notesSlide8.xml" Id="Re942602e126f401a" /><Relationship Type="http://schemas.openxmlformats.org/officeDocument/2006/relationships/image" Target="/ppt/media/image3.png" Id="Rb64b11d0baa94e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666483a7a7b445b" /><Relationship Type="http://schemas.openxmlformats.org/officeDocument/2006/relationships/notesSlide" Target="/ppt/notesSlides/notesSlide9.xml" Id="Rd3136ef1f64d4f9f" /><Relationship Type="http://schemas.openxmlformats.org/officeDocument/2006/relationships/image" Target="/ppt/media/image4.png" Id="R45184150e9ed42a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5262394a9347c0" /><Relationship Type="http://schemas.openxmlformats.org/officeDocument/2006/relationships/notesSlide" Target="/ppt/notesSlides/notesSlide10.xml" Id="R5d87dcee8fe948ce" /></Relationships>
</file>

<file path=ppt/slides/slide1.xml><?xml version="1.0" encoding="utf-8"?>
<p:sld xmlns:a="http://schemas.openxmlformats.org/drawingml/2006/main" xmlns:p="http://schemas.openxmlformats.org/presentationml/2006/main">
  <p:cSld>
    <p:bg>
      <p:bgPr>
        <a:solidFill xmlns:a="http://schemas.openxmlformats.org/drawingml/2006/main">
          <a:srgbClr val="1E3A5F"/>
        </a:solidFill>
      </p:bgPr>
    </p:bg>
    <p:spTree>
      <p:nvGrpSpPr>
        <p:cNvPr id="1" name=""/>
        <p:cNvGrpSpPr/>
        <p:nvPr/>
      </p:nvGrpSpPr>
      <p:grpSpPr/>
      <p:sp>
        <p:nvSpPr>
          <p:cNvPr id="100000"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C0392B"/>
          </a:solidFill>
        </p:spPr>
        <p:txBody>
          <a:bodyPr xmlns:a="http://schemas.openxmlformats.org/drawingml/2006/main"/>
          <a:lstStyle xmlns:a="http://schemas.openxmlformats.org/drawingml/2006/main"/>
          <a:p xmlns:a="http://schemas.openxmlformats.org/drawingml/2006/main">
            <a:endParaRPr lang="en-US" sz="1000">
              <a:solidFill>
                <a:srgbClr val="FFFFFF"/>
              </a:solidFill>
            </a:endParaRPr>
          </a:p>
        </p:txBody>
      </p:sp>
      <p:sp>
        <p:nvSpPr>
          <p:cNvPr id="100001" name="Title"/>
          <p:cNvSpPr txBox="1"/>
          <p:nvPr/>
        </p:nvSpPr>
        <p:spPr>
          <a:xfrm xmlns:a="http://schemas.openxmlformats.org/drawingml/2006/main">
            <a:off x="540000" y="648000"/>
            <a:ext cx="10800000" cy="16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rPr>
              <a:t>Optimising Automotive Portfolios for Net-Zero Transition, Urban Mobility, and Risk Mitigation</a:t>
            </a:r>
          </a:p>
        </p:txBody>
      </p:sp>
      <p:sp>
        <p:nvSpPr>
          <p:cNvPr id="100002" name="Subtitle"/>
          <p:cNvSpPr txBox="1"/>
          <p:nvPr/>
        </p:nvSpPr>
        <p:spPr>
          <a:xfrm xmlns:a="http://schemas.openxmlformats.org/drawingml/2006/main">
            <a:off x="540000" y="2340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000">
                <a:solidFill>
                  <a:srgbClr val="AEC6E8"/>
                </a:solidFill>
              </a:rPr>
              <a:t>A CRISP-DM Data Engineering Framework for Structural Vehicle Attribute Analysis</a:t>
            </a:r>
          </a:p>
        </p:txBody>
      </p:sp>
      <p:sp>
        <p:nvSpPr>
          <p:cNvPr id="100003" name="Affiliation"/>
          <p:cNvSpPr txBox="1"/>
          <p:nvPr/>
        </p:nvSpPr>
        <p:spPr>
          <a:xfrm xmlns:a="http://schemas.openxmlformats.org/drawingml/2006/main">
            <a:off x="540000" y="3060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AEC6E8"/>
                </a:solidFill>
              </a:rPr>
              <a:t>Automotive Systems Research Group  |  Institute of Advanced Mobility Research</a:t>
            </a:r>
          </a:p>
        </p:txBody>
      </p:sp>
      <p:sp>
        <p:nvSpPr>
          <p:cNvPr id="100004" name="Bullet1"/>
          <p:cNvSpPr txBox="1"/>
          <p:nvPr/>
        </p:nvSpPr>
        <p:spPr>
          <a:xfrm xmlns:a="http://schemas.openxmlformats.org/drawingml/2006/main">
            <a:off x="540000" y="3600000"/>
            <a:ext cx="1080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F0F4F8"/>
                </a:solidFill>
              </a:rPr>
              <a:t>• Turbocharged architectures deliver &gt;22% lower city fuel consumption vs. naturally aspirated V6 baselines</a:t>
            </a:r>
          </a:p>
        </p:txBody>
      </p:sp>
      <p:sp>
        <p:nvSpPr>
          <p:cNvPr id="100005" name="Bullet2"/>
          <p:cNvSpPr txBox="1"/>
          <p:nvPr/>
        </p:nvSpPr>
        <p:spPr>
          <a:xfrm xmlns:a="http://schemas.openxmlformats.org/drawingml/2006/main">
            <a:off x="540000" y="3960000"/>
            <a:ext cx="1080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F0F4F8"/>
                </a:solidFill>
              </a:rPr>
              <a:t>• Vehicles exceeding 1,650 kg curb weight systematically fail urban mobility efficiency benchmarks</a:t>
            </a:r>
          </a:p>
        </p:txBody>
      </p:sp>
      <p:sp>
        <p:nvSpPr>
          <p:cNvPr id="100006" name="Bullet3"/>
          <p:cNvSpPr txBox="1"/>
          <p:nvPr/>
        </p:nvSpPr>
        <p:spPr>
          <a:xfrm xmlns:a="http://schemas.openxmlformats.org/drawingml/2006/main">
            <a:off x="540000" y="4320000"/>
            <a:ext cx="10800000" cy="324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F0F4F8"/>
                </a:solidFill>
              </a:rPr>
              <a:t>• Powertrains above 150 BHP concentrate disproportionately in maximum actuarial symboling risk categories</a:t>
            </a:r>
          </a:p>
        </p:txBody>
      </p:sp>
      <p:sp>
        <p:nvSpPr>
          <p:cNvPr id="100007" name="SlideNum"/>
          <p:cNvSpPr txBox="1"/>
          <p:nvPr/>
        </p:nvSpPr>
        <p:spPr>
          <a:xfrm xmlns:a="http://schemas.openxmlformats.org/drawingml/2006/main">
            <a:off x="10440000" y="6480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AEC6E8"/>
                </a:solidFill>
              </a:rPr>
              <a:t>1 / 10</a:t>
            </a:r>
          </a:p>
        </p:txBody>
      </p:sp>
      <p:pic>
        <p:nvPicPr>
          <p:cNvPr id="100100" name="SkewnessImg"/>
          <p:cNvPicPr>
            <a:picLocks noChangeAspect="1"/>
          </p:cNvPicPr>
          <p:nvPr/>
        </p:nvPicPr>
        <p:blipFill>
          <a:blip xmlns:r="http://schemas.openxmlformats.org/officeDocument/2006/relationships" r:embed="Rb0162062cfcd4703"/>
          <a:stretch>
            <a:fillRect/>
          </a:stretch>
        </p:blipFill>
        <p:spPr>
          <a:xfrm>
            <a:off x="540000" y="4752000"/>
            <a:ext cx="10800000" cy="1872000"/>
          </a:xfrm>
          <a:prstGeom prst="rect">
            <a:avLst/>
          </a:prstGeom>
        </p:spPr>
      </p:pic>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8"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b="1">
                <a:solidFill>
                  <a:srgbClr val="FFFFFF"/>
                </a:solidFill>
              </a:rPr>
              <a:t>Problem Statement and Regulatory Context</a:t>
            </a:r>
          </a:p>
        </p:txBody>
      </p:sp>
      <p:sp>
        <p:nvSpPr>
          <p:cNvPr id="100009" name="SlideTitle"/>
          <p:cNvSpPr txBox="1"/>
          <p:nvPr/>
        </p:nvSpPr>
        <p:spPr>
          <a:xfrm xmlns:a="http://schemas.openxmlformats.org/drawingml/2006/main">
            <a:off x="540000" y="540000"/>
            <a:ext cx="1080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1E3A5F"/>
                </a:solidFill>
              </a:rPr>
              <a:t>The Dual Pressure Framework: Regulatory Mandates vs. Portfolio Inertia</a:t>
            </a:r>
          </a:p>
        </p:txBody>
      </p:sp>
      <p:sp>
        <p:nvSpPr>
          <p:cNvPr id="100010" name="LeftZone"/>
          <p:cNvSpPr txBox="1"/>
          <p:nvPr/>
        </p:nvSpPr>
        <p:spPr>
          <a:xfrm xmlns:a="http://schemas.openxmlformats.org/drawingml/2006/main">
            <a:off x="540000" y="1260000"/>
            <a:ext cx="5040000" cy="3960000"/>
          </a:xfrm>
          <a:prstGeom xmlns:a="http://schemas.openxmlformats.org/drawingml/2006/main" prst="rect">
            <a:avLst/>
          </a:prstGeom>
          <a:solidFill xmlns:a="http://schemas.openxmlformats.org/drawingml/2006/main">
            <a:srgbClr val="EBF2FA"/>
          </a:solidFill>
        </p:spPr>
        <p:txBody>
          <a:bodyPr xmlns:a="http://schemas.openxmlformats.org/drawingml/2006/main"/>
          <a:lstStyle xmlns:a="http://schemas.openxmlformats.org/drawingml/2006/main"/>
          <a:p xmlns:a="http://schemas.openxmlformats.org/drawingml/2006/main">
            <a:r>
              <a:rPr lang="en-US" sz="1500">
                <a:solidFill>
                  <a:srgbClr val="1E3A5F"/>
                </a:solidFill>
              </a:rPr>
              <a:t>REGULATORY PRESSURE</a:t>
            </a:r>
          </a:p>
          <a:p xmlns:a="http://schemas.openxmlformats.org/drawingml/2006/main">
            <a:r>
              <a:rPr lang="en-US" sz="1500">
                <a:solidFill>
                  <a:srgbClr val="1E3A5F"/>
                </a:solidFill>
              </a:rPr>
              <a:t/>
            </a:r>
          </a:p>
          <a:p xmlns:a="http://schemas.openxmlformats.org/drawingml/2006/main">
            <a:r>
              <a:rPr lang="en-US" sz="1500">
                <a:solidFill>
                  <a:srgbClr val="1E3A5F"/>
                </a:solidFill>
              </a:rPr>
              <a:t>CAFE 2026: 49 MPG fleet average</a:t>
            </a:r>
          </a:p>
          <a:p xmlns:a="http://schemas.openxmlformats.org/drawingml/2006/main">
            <a:r>
              <a:rPr lang="en-US" sz="1500">
                <a:solidFill>
                  <a:srgbClr val="1E3A5F"/>
                </a:solidFill>
              </a:rPr>
              <a:t/>
            </a:r>
          </a:p>
          <a:p xmlns:a="http://schemas.openxmlformats.org/drawingml/2006/main">
            <a:r>
              <a:rPr lang="en-US" sz="1500">
                <a:solidFill>
                  <a:srgbClr val="1E3A5F"/>
                </a:solidFill>
              </a:rPr>
              <a:t>EU Regulation 2019/631: 37.5% CO2 reduction by 2030</a:t>
            </a:r>
          </a:p>
          <a:p xmlns:a="http://schemas.openxmlformats.org/drawingml/2006/main">
            <a:r>
              <a:rPr lang="en-US" sz="1500">
                <a:solidFill>
                  <a:srgbClr val="1E3A5F"/>
                </a:solidFill>
              </a:rPr>
              <a:t/>
            </a:r>
          </a:p>
          <a:p xmlns:a="http://schemas.openxmlformats.org/drawingml/2006/main">
            <a:r>
              <a:rPr lang="en-US" sz="1500">
                <a:solidFill>
                  <a:srgbClr val="1E3A5F"/>
                </a:solidFill>
              </a:rPr>
              <a:t>320+ European cities with Low-Emission Zones</a:t>
            </a:r>
          </a:p>
          <a:p xmlns:a="http://schemas.openxmlformats.org/drawingml/2006/main">
            <a:r>
              <a:rPr lang="en-US" sz="1500">
                <a:solidFill>
                  <a:srgbClr val="1E3A5F"/>
                </a:solidFill>
              </a:rPr>
              <a:t/>
            </a:r>
          </a:p>
          <a:p xmlns:a="http://schemas.openxmlformats.org/drawingml/2006/main">
            <a:r>
              <a:rPr lang="en-US" sz="1500">
                <a:solidFill>
                  <a:srgbClr val="1E3A5F"/>
                </a:solidFill>
              </a:rPr>
              <a:t>EU Fleet CO2: 95 gCO2/km (2021) → 81 gCO2/km (2025)</a:t>
            </a:r>
          </a:p>
        </p:txBody>
      </p:sp>
      <p:sp>
        <p:nvSpPr>
          <p:cNvPr id="100011" name="RightZone"/>
          <p:cNvSpPr txBox="1"/>
          <p:nvPr/>
        </p:nvSpPr>
        <p:spPr>
          <a:xfrm xmlns:a="http://schemas.openxmlformats.org/drawingml/2006/main">
            <a:off x="6120000" y="1260000"/>
            <a:ext cx="5040000" cy="3960000"/>
          </a:xfrm>
          <a:prstGeom xmlns:a="http://schemas.openxmlformats.org/drawingml/2006/main" prst="rect">
            <a:avLst/>
          </a:prstGeom>
          <a:solidFill xmlns:a="http://schemas.openxmlformats.org/drawingml/2006/main">
            <a:srgbClr val="FAEAEA"/>
          </a:solidFill>
        </p:spPr>
        <p:txBody>
          <a:bodyPr xmlns:a="http://schemas.openxmlformats.org/drawingml/2006/main"/>
          <a:lstStyle xmlns:a="http://schemas.openxmlformats.org/drawingml/2006/main"/>
          <a:p xmlns:a="http://schemas.openxmlformats.org/drawingml/2006/main">
            <a:r>
              <a:rPr lang="en-US" sz="1500">
                <a:solidFill>
                  <a:srgbClr val="7B1E1E"/>
                </a:solidFill>
              </a:rPr>
              <a:t>PORTFOLIO INERTIA</a:t>
            </a:r>
          </a:p>
          <a:p xmlns:a="http://schemas.openxmlformats.org/drawingml/2006/main">
            <a:r>
              <a:rPr lang="en-US" sz="1500">
                <a:solidFill>
                  <a:srgbClr val="7B1E1E"/>
                </a:solidFill>
              </a:rPr>
              <a:t/>
            </a:r>
          </a:p>
          <a:p xmlns:a="http://schemas.openxmlformats.org/drawingml/2006/main">
            <a:r>
              <a:rPr lang="en-US" sz="1500">
                <a:solidFill>
                  <a:srgbClr val="7B1E1E"/>
                </a:solidFill>
              </a:rPr>
              <a:t>Curb weight inflation: +180 kg avg. per decade</a:t>
            </a:r>
          </a:p>
          <a:p xmlns:a="http://schemas.openxmlformats.org/drawingml/2006/main">
            <a:r>
              <a:rPr lang="en-US" sz="1500">
                <a:solidFill>
                  <a:srgbClr val="7B1E1E"/>
                </a:solidFill>
              </a:rPr>
              <a:t/>
            </a:r>
          </a:p>
          <a:p xmlns:a="http://schemas.openxmlformats.org/drawingml/2006/main">
            <a:r>
              <a:rPr lang="en-US" sz="1500">
                <a:solidFill>
                  <a:srgbClr val="7B1E1E"/>
                </a:solidFill>
              </a:rPr>
              <a:t>Horsepower escalation across crossover/SUV segments</a:t>
            </a:r>
          </a:p>
          <a:p xmlns:a="http://schemas.openxmlformats.org/drawingml/2006/main">
            <a:r>
              <a:rPr lang="en-US" sz="1500">
                <a:solidFill>
                  <a:srgbClr val="7B1E1E"/>
                </a:solidFill>
              </a:rPr>
              <a:t/>
            </a:r>
          </a:p>
          <a:p xmlns:a="http://schemas.openxmlformats.org/drawingml/2006/main">
            <a:r>
              <a:rPr lang="en-US" sz="1500">
                <a:solidFill>
                  <a:srgbClr val="7B1E1E"/>
                </a:solidFill>
              </a:rPr>
              <a:t>Styling-driven drag penalties incompatible with targets</a:t>
            </a:r>
          </a:p>
          <a:p xmlns:a="http://schemas.openxmlformats.org/drawingml/2006/main">
            <a:r>
              <a:rPr lang="en-US" sz="1500">
                <a:solidFill>
                  <a:srgbClr val="7B1E1E"/>
                </a:solidFill>
              </a:rPr>
              <a:t/>
            </a:r>
          </a:p>
          <a:p xmlns:a="http://schemas.openxmlformats.org/drawingml/2006/main">
            <a:r>
              <a:rPr lang="en-US" sz="1500">
                <a:solidFill>
                  <a:srgbClr val="7B1E1E"/>
                </a:solidFill>
              </a:rPr>
              <a:t>Performance DNA entangled with margin contribution</a:t>
            </a:r>
          </a:p>
        </p:txBody>
      </p:sp>
      <p:sp>
        <p:nvSpPr>
          <p:cNvPr id="100012" name="CentralLabel"/>
          <p:cNvSpPr txBox="1"/>
          <p:nvPr/>
        </p:nvSpPr>
        <p:spPr>
          <a:xfrm xmlns:a="http://schemas.openxmlformats.org/drawingml/2006/main">
            <a:off x="4680000" y="3060000"/>
            <a:ext cx="2520000" cy="540000"/>
          </a:xfrm>
          <a:prstGeom xmlns:a="http://schemas.openxmlformats.org/drawingml/2006/main" prst="rect">
            <a:avLst/>
          </a:prstGeom>
          <a:solidFill xmlns:a="http://schemas.openxmlformats.org/drawingml/2006/main">
            <a:srgbClr val="FFE0B2"/>
          </a:solidFill>
        </p:spPr>
        <p:txBody>
          <a:bodyPr xmlns:a="http://schemas.openxmlformats.org/drawingml/2006/main"/>
          <a:lstStyle xmlns:a="http://schemas.openxmlformats.org/drawingml/2006/main"/>
          <a:p xmlns:a="http://schemas.openxmlformats.org/drawingml/2006/main">
            <a:r>
              <a:rPr lang="en-US" sz="1300" b="1">
                <a:solidFill>
                  <a:srgbClr val="333333"/>
                </a:solidFill>
              </a:rPr>
              <a:t>STRUCTURAL TENSION</a:t>
            </a:r>
          </a:p>
        </p:txBody>
      </p:sp>
      <p:sp>
        <p:nvSpPr>
          <p:cNvPr id="100013" name="Bullet1"/>
          <p:cNvSpPr txBox="1"/>
          <p:nvPr/>
        </p:nvSpPr>
        <p:spPr>
          <a:xfrm xmlns:a="http://schemas.openxmlformats.org/drawingml/2006/main">
            <a:off x="540000" y="5400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CAFE 2026 mandates 49 MPG fleet average, requiring immediate portfolio intervention beyond incremental improvements.</a:t>
            </a:r>
          </a:p>
        </p:txBody>
      </p:sp>
      <p:sp>
        <p:nvSpPr>
          <p:cNvPr id="100014" name="Bullet2"/>
          <p:cNvSpPr txBox="1"/>
          <p:nvPr/>
        </p:nvSpPr>
        <p:spPr>
          <a:xfrm xmlns:a="http://schemas.openxmlformats.org/drawingml/2006/main">
            <a:off x="540000" y="5724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EU Regulation 2019/631 imposes binding 37.5% CO2 reduction by 2030 with per-vehicle excess-emissions financial penalties.</a:t>
            </a:r>
          </a:p>
        </p:txBody>
      </p:sp>
      <p:sp>
        <p:nvSpPr>
          <p:cNvPr id="100015" name="Bullet3"/>
          <p:cNvSpPr txBox="1"/>
          <p:nvPr/>
        </p:nvSpPr>
        <p:spPr>
          <a:xfrm xmlns:a="http://schemas.openxmlformats.org/drawingml/2006/main">
            <a:off x="540000" y="6048000"/>
            <a:ext cx="1080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Legacy performance portfolios face compounding non-compliance exposure from simultaneous mass inflation and horsepower escalation.</a:t>
            </a:r>
          </a:p>
        </p:txBody>
      </p:sp>
      <p:sp>
        <p:nvSpPr>
          <p:cNvPr id="100016" name="SlideNum"/>
          <p:cNvSpPr txBox="1"/>
          <p:nvPr/>
        </p:nvSpPr>
        <p:spPr>
          <a:xfrm xmlns:a="http://schemas.openxmlformats.org/drawingml/2006/main">
            <a:off x="10440000" y="6480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999999"/>
                </a:solidFill>
              </a:rPr>
              <a:t>2 / 10</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7"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b="1">
                <a:solidFill>
                  <a:srgbClr val="FFFFFF"/>
                </a:solidFill>
              </a:rPr>
              <a:t>Literature Gap and Research Objectives</a:t>
            </a:r>
          </a:p>
        </p:txBody>
      </p:sp>
      <p:sp>
        <p:nvSpPr>
          <p:cNvPr id="100018" name="SlideTitle"/>
          <p:cNvSpPr txBox="1"/>
          <p:nvPr/>
        </p:nvSpPr>
        <p:spPr>
          <a:xfrm xmlns:a="http://schemas.openxmlformats.org/drawingml/2006/main">
            <a:off x="540000" y="54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1E3A5F"/>
                </a:solidFill>
              </a:rPr>
              <a:t>Three Isolated Corpora, One Critical Gap</a:t>
            </a:r>
          </a:p>
        </p:txBody>
      </p:sp>
      <p:sp>
        <p:nvSpPr>
          <p:cNvPr id="100019" name="Corp1"/>
          <p:cNvSpPr txBox="1"/>
          <p:nvPr/>
        </p:nvSpPr>
        <p:spPr>
          <a:xfrm xmlns:a="http://schemas.openxmlformats.org/drawingml/2006/main">
            <a:off x="540000" y="1260000"/>
            <a:ext cx="3240000" cy="2160000"/>
          </a:xfrm>
          <a:prstGeom xmlns:a="http://schemas.openxmlformats.org/drawingml/2006/main" prst="rect">
            <a:avLst/>
          </a:prstGeom>
          <a:solidFill xmlns:a="http://schemas.openxmlformats.org/drawingml/2006/main">
            <a:srgbClr val="DBEAFE"/>
          </a:solidFill>
        </p:spPr>
        <p:txBody>
          <a:bodyPr xmlns:a="http://schemas.openxmlformats.org/drawingml/2006/main"/>
          <a:lstStyle xmlns:a="http://schemas.openxmlformats.org/drawingml/2006/main"/>
          <a:p xmlns:a="http://schemas.openxmlformats.org/drawingml/2006/main">
            <a:r>
              <a:rPr lang="en-US" sz="1400">
                <a:solidFill>
                  <a:srgbClr val="1E3A5F"/>
                </a:solidFill>
              </a:rPr>
              <a:t>STRUCTURAL OPTIMISATION</a:t>
            </a:r>
          </a:p>
          <a:p xmlns:a="http://schemas.openxmlformats.org/drawingml/2006/main">
            <a:r>
              <a:rPr lang="en-US" sz="1400">
                <a:solidFill>
                  <a:srgbClr val="1E3A5F"/>
                </a:solidFill>
              </a:rPr>
              <a:t/>
            </a:r>
          </a:p>
          <a:p xmlns:a="http://schemas.openxmlformats.org/drawingml/2006/main">
            <a:r>
              <a:rPr lang="en-US" sz="1400">
                <a:solidFill>
                  <a:srgbClr val="1E3A5F"/>
                </a:solidFill>
              </a:rPr>
              <a:t>Powertrain downsizing</a:t>
            </a:r>
          </a:p>
          <a:p xmlns:a="http://schemas.openxmlformats.org/drawingml/2006/main">
            <a:r>
              <a:rPr lang="en-US" sz="1400">
                <a:solidFill>
                  <a:srgbClr val="1E3A5F"/>
                </a:solidFill>
              </a:rPr>
              <a:t>Lightweighting strategies</a:t>
            </a:r>
          </a:p>
          <a:p xmlns:a="http://schemas.openxmlformats.org/drawingml/2006/main">
            <a:r>
              <a:rPr lang="en-US" sz="1400">
                <a:solidFill>
                  <a:srgbClr val="1E3A5F"/>
                </a:solidFill>
              </a:rPr>
              <a:t>Aerodynamic efficiency</a:t>
            </a:r>
          </a:p>
        </p:txBody>
      </p:sp>
      <p:sp>
        <p:nvSpPr>
          <p:cNvPr id="100020" name="Corp2"/>
          <p:cNvSpPr txBox="1"/>
          <p:nvPr/>
        </p:nvSpPr>
        <p:spPr>
          <a:xfrm xmlns:a="http://schemas.openxmlformats.org/drawingml/2006/main">
            <a:off x="4500000" y="1260000"/>
            <a:ext cx="3240000" cy="2160000"/>
          </a:xfrm>
          <a:prstGeom xmlns:a="http://schemas.openxmlformats.org/drawingml/2006/main" prst="rect">
            <a:avLst/>
          </a:prstGeom>
          <a:solidFill xmlns:a="http://schemas.openxmlformats.org/drawingml/2006/main">
            <a:srgbClr val="D5F5E3"/>
          </a:solidFill>
        </p:spPr>
        <p:txBody>
          <a:bodyPr xmlns:a="http://schemas.openxmlformats.org/drawingml/2006/main"/>
          <a:lstStyle xmlns:a="http://schemas.openxmlformats.org/drawingml/2006/main"/>
          <a:p xmlns:a="http://schemas.openxmlformats.org/drawingml/2006/main">
            <a:r>
              <a:rPr lang="en-US" sz="1400">
                <a:solidFill>
                  <a:srgbClr val="145A32"/>
                </a:solidFill>
              </a:rPr>
              <a:t>ENVIRONMENTAL ECONOMICS</a:t>
            </a:r>
          </a:p>
          <a:p xmlns:a="http://schemas.openxmlformats.org/drawingml/2006/main">
            <a:r>
              <a:rPr lang="en-US" sz="1400">
                <a:solidFill>
                  <a:srgbClr val="145A32"/>
                </a:solidFill>
              </a:rPr>
              <a:t/>
            </a:r>
          </a:p>
          <a:p xmlns:a="http://schemas.openxmlformats.org/drawingml/2006/main">
            <a:r>
              <a:rPr lang="en-US" sz="1400">
                <a:solidFill>
                  <a:srgbClr val="145A32"/>
                </a:solidFill>
              </a:rPr>
              <a:t>Fleet CO2 compliance</a:t>
            </a:r>
          </a:p>
          <a:p xmlns:a="http://schemas.openxmlformats.org/drawingml/2006/main">
            <a:r>
              <a:rPr lang="en-US" sz="1400">
                <a:solidFill>
                  <a:srgbClr val="145A32"/>
                </a:solidFill>
              </a:rPr>
              <a:t>Lifecycle emissions</a:t>
            </a:r>
          </a:p>
          <a:p xmlns:a="http://schemas.openxmlformats.org/drawingml/2006/main">
            <a:r>
              <a:rPr lang="en-US" sz="1400">
                <a:solidFill>
                  <a:srgbClr val="145A32"/>
                </a:solidFill>
              </a:rPr>
              <a:t>MPG carbon proxy</a:t>
            </a:r>
          </a:p>
        </p:txBody>
      </p:sp>
      <p:sp>
        <p:nvSpPr>
          <p:cNvPr id="100021" name="Corp3"/>
          <p:cNvSpPr txBox="1"/>
          <p:nvPr/>
        </p:nvSpPr>
        <p:spPr>
          <a:xfrm xmlns:a="http://schemas.openxmlformats.org/drawingml/2006/main">
            <a:off x="8280000" y="1260000"/>
            <a:ext cx="3240000" cy="2160000"/>
          </a:xfrm>
          <a:prstGeom xmlns:a="http://schemas.openxmlformats.org/drawingml/2006/main" prst="rect">
            <a:avLst/>
          </a:prstGeom>
          <a:solidFill xmlns:a="http://schemas.openxmlformats.org/drawingml/2006/main">
            <a:srgbClr val="FADBD8"/>
          </a:solidFill>
        </p:spPr>
        <p:txBody>
          <a:bodyPr xmlns:a="http://schemas.openxmlformats.org/drawingml/2006/main"/>
          <a:lstStyle xmlns:a="http://schemas.openxmlformats.org/drawingml/2006/main"/>
          <a:p xmlns:a="http://schemas.openxmlformats.org/drawingml/2006/main">
            <a:r>
              <a:rPr lang="en-US" sz="1400">
                <a:solidFill>
                  <a:srgbClr val="7B241C"/>
                </a:solidFill>
              </a:rPr>
              <a:t>ACTUARIAL RISK ANALYSIS</a:t>
            </a:r>
          </a:p>
          <a:p xmlns:a="http://schemas.openxmlformats.org/drawingml/2006/main">
            <a:r>
              <a:rPr lang="en-US" sz="1400">
                <a:solidFill>
                  <a:srgbClr val="7B241C"/>
                </a:solidFill>
              </a:rPr>
              <a:t/>
            </a:r>
          </a:p>
          <a:p xmlns:a="http://schemas.openxmlformats.org/drawingml/2006/main">
            <a:r>
              <a:rPr lang="en-US" sz="1400">
                <a:solidFill>
                  <a:srgbClr val="7B241C"/>
                </a:solidFill>
              </a:rPr>
              <a:t>Symboling scoring</a:t>
            </a:r>
          </a:p>
          <a:p xmlns:a="http://schemas.openxmlformats.org/drawingml/2006/main">
            <a:r>
              <a:rPr lang="en-US" sz="1400">
                <a:solidFill>
                  <a:srgbClr val="7B241C"/>
                </a:solidFill>
              </a:rPr>
              <a:t>Collision frequency</a:t>
            </a:r>
          </a:p>
          <a:p xmlns:a="http://schemas.openxmlformats.org/drawingml/2006/main">
            <a:r>
              <a:rPr lang="en-US" sz="1400">
                <a:solidFill>
                  <a:srgbClr val="7B241C"/>
                </a:solidFill>
              </a:rPr>
              <a:t>Insurance premiums</a:t>
            </a:r>
          </a:p>
        </p:txBody>
      </p:sp>
      <p:sp>
        <p:nvSpPr>
          <p:cNvPr id="100022" name="GapBox"/>
          <p:cNvSpPr txBox="1"/>
          <p:nvPr/>
        </p:nvSpPr>
        <p:spPr>
          <a:xfrm xmlns:a="http://schemas.openxmlformats.org/drawingml/2006/main">
            <a:off x="3600000" y="3600000"/>
            <a:ext cx="4680000" cy="900000"/>
          </a:xfrm>
          <a:prstGeom xmlns:a="http://schemas.openxmlformats.org/drawingml/2006/main" prst="rect">
            <a:avLst/>
          </a:prstGeom>
          <a:solidFill xmlns:a="http://schemas.openxmlformats.org/drawingml/2006/main">
            <a:srgbClr val="C0392B"/>
          </a:solidFill>
        </p:spPr>
        <p:txBody>
          <a:bodyPr xmlns:a="http://schemas.openxmlformats.org/drawingml/2006/main"/>
          <a:lstStyle xmlns:a="http://schemas.openxmlformats.org/drawingml/2006/main"/>
          <a:p xmlns:a="http://schemas.openxmlformats.org/drawingml/2006/main">
            <a:r>
              <a:rPr lang="en-US" sz="1500" b="1">
                <a:solidFill>
                  <a:srgbClr val="FFFFFF"/>
                </a:solidFill>
              </a:rPr>
              <a:t>RESEARCH GAP</a:t>
            </a:r>
          </a:p>
          <a:p xmlns:a="http://schemas.openxmlformats.org/drawingml/2006/main">
            <a:r>
              <a:rPr lang="en-US" sz="1500" b="1">
                <a:solidFill>
                  <a:srgbClr val="FFFFFF"/>
                </a:solidFill>
              </a:rPr>
              <a:t>No unified portfolio-level framework integrating all three domains</a:t>
            </a:r>
          </a:p>
        </p:txBody>
      </p:sp>
      <p:sp>
        <p:nvSpPr>
          <p:cNvPr id="100023" name="Objectives"/>
          <p:cNvSpPr txBox="1"/>
          <p:nvPr/>
        </p:nvSpPr>
        <p:spPr>
          <a:xfrm xmlns:a="http://schemas.openxmlformats.org/drawingml/2006/main">
            <a:off x="540000" y="4680000"/>
            <a:ext cx="10800000" cy="1620000"/>
          </a:xfrm>
          <a:prstGeom xmlns:a="http://schemas.openxmlformats.org/drawingml/2006/main" prst="rect">
            <a:avLst/>
          </a:prstGeom>
          <a:solidFill xmlns:a="http://schemas.openxmlformats.org/drawingml/2006/main">
            <a:srgbClr val="F0F4F8"/>
          </a:solidFill>
        </p:spPr>
        <p:txBody>
          <a:bodyPr xmlns:a="http://schemas.openxmlformats.org/drawingml/2006/main"/>
          <a:lstStyle xmlns:a="http://schemas.openxmlformats.org/drawingml/2006/main"/>
          <a:p xmlns:a="http://schemas.openxmlformats.org/drawingml/2006/main">
            <a:r>
              <a:rPr lang="en-US" sz="1400">
                <a:solidFill>
                  <a:srgbClr val="1E3A5F"/>
                </a:solidFill>
              </a:rPr>
              <a:t>RO1: Quantify turbo vs. N/A fuel consumption differential via city-L/100km proxy</a:t>
            </a:r>
          </a:p>
          <a:p xmlns:a="http://schemas.openxmlformats.org/drawingml/2006/main">
            <a:r>
              <a:rPr lang="en-US" sz="1400">
                <a:solidFill>
                  <a:srgbClr val="1E3A5F"/>
                </a:solidFill>
              </a:rPr>
              <a:t>RO2: Characterise curb-weight to highway-MPG degradation and identify 1,650 kg threshold</a:t>
            </a:r>
          </a:p>
          <a:p xmlns:a="http://schemas.openxmlformats.org/drawingml/2006/main">
            <a:r>
              <a:rPr lang="en-US" sz="1400">
                <a:solidFill>
                  <a:srgbClr val="1E3A5F"/>
                </a:solidFill>
              </a:rPr>
              <a:t>RO3: Quantify horsepower-symboling risk association above 150 BHP</a:t>
            </a:r>
          </a:p>
          <a:p xmlns:a="http://schemas.openxmlformats.org/drawingml/2006/main">
            <a:r>
              <a:rPr lang="en-US" sz="1400">
                <a:solidFill>
                  <a:srgbClr val="1E3A5F"/>
                </a:solidFill>
              </a:rPr>
              <a:t>RO4: Synthesise findings into actionable OEM portfolio rationalisation strategies</a:t>
            </a:r>
          </a:p>
        </p:txBody>
      </p:sp>
      <p:sp>
        <p:nvSpPr>
          <p:cNvPr id="100024" name="Bullet1"/>
          <p:cNvSpPr txBox="1"/>
          <p:nvPr/>
        </p:nvSpPr>
        <p:spPr>
          <a:xfrm xmlns:a="http://schemas.openxmlformats.org/drawingml/2006/main">
            <a:off x="540000" y="6408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200">
                <a:solidFill>
                  <a:srgbClr val="555555"/>
                </a:solidFill>
              </a:rPr>
              <a:t>• No existing literature integrates structural vehicle optimisation with actuarial risk profiling at portfolio scale.</a:t>
            </a:r>
          </a:p>
        </p:txBody>
      </p:sp>
      <p:sp>
        <p:nvSpPr>
          <p:cNvPr id="100025" name="SlideNum"/>
          <p:cNvSpPr txBox="1"/>
          <p:nvPr/>
        </p:nvSpPr>
        <p:spPr>
          <a:xfrm xmlns:a="http://schemas.openxmlformats.org/drawingml/2006/main">
            <a:off x="10440000" y="6480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999999"/>
                </a:solidFill>
              </a:rPr>
              <a:t>3 / 10</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6"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b="1">
                <a:solidFill>
                  <a:srgbClr val="FFFFFF"/>
                </a:solidFill>
              </a:rPr>
              <a:t>Dataset Overview and CRISP-DM Methodology</a:t>
            </a:r>
          </a:p>
        </p:txBody>
      </p:sp>
      <p:sp>
        <p:nvSpPr>
          <p:cNvPr id="100027" name="SlideTitle"/>
          <p:cNvSpPr txBox="1"/>
          <p:nvPr/>
        </p:nvSpPr>
        <p:spPr>
          <a:xfrm xmlns:a="http://schemas.openxmlformats.org/drawingml/2006/main">
            <a:off x="540000" y="54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1E3A5F"/>
                </a:solidFill>
              </a:rPr>
              <a:t>CRISP-DM Pipeline Architecture: From Raw Data to Portfolio Intelligence</a:t>
            </a:r>
          </a:p>
        </p:txBody>
      </p:sp>
      <p:sp>
        <p:nvSpPr>
          <p:cNvPr id="100028" name="Phase1"/>
          <p:cNvSpPr txBox="1"/>
          <p:nvPr/>
        </p:nvSpPr>
        <p:spPr>
          <a:xfrm xmlns:a="http://schemas.openxmlformats.org/drawingml/2006/main">
            <a:off x="360000" y="1260000"/>
            <a:ext cx="1980000" cy="2880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200">
                <a:solidFill>
                  <a:srgbClr val="FFFFFF"/>
                </a:solidFill>
              </a:rPr>
              <a:t>1. Business</a:t>
            </a:r>
          </a:p>
          <a:p xmlns:a="http://schemas.openxmlformats.org/drawingml/2006/main">
            <a:r>
              <a:rPr lang="en-US" sz="1200">
                <a:solidFill>
                  <a:srgbClr val="FFFFFF"/>
                </a:solidFill>
              </a:rPr>
              <a:t>Understanding</a:t>
            </a:r>
          </a:p>
          <a:p xmlns:a="http://schemas.openxmlformats.org/drawingml/2006/main">
            <a:r>
              <a:rPr lang="en-US" sz="1200">
                <a:solidFill>
                  <a:srgbClr val="FFFFFF"/>
                </a:solidFill>
              </a:rPr>
              <a:t/>
            </a:r>
          </a:p>
          <a:p xmlns:a="http://schemas.openxmlformats.org/drawingml/2006/main">
            <a:r>
              <a:rPr lang="en-US" sz="1200">
                <a:solidFill>
                  <a:srgbClr val="FFFFFF"/>
                </a:solidFill>
              </a:rPr>
              <a:t>CAFE / EU CO2</a:t>
            </a:r>
          </a:p>
          <a:p xmlns:a="http://schemas.openxmlformats.org/drawingml/2006/main">
            <a:r>
              <a:rPr lang="en-US" sz="1200">
                <a:solidFill>
                  <a:srgbClr val="FFFFFF"/>
                </a:solidFill>
              </a:rPr>
              <a:t>objectives</a:t>
            </a:r>
          </a:p>
          <a:p xmlns:a="http://schemas.openxmlformats.org/drawingml/2006/main">
            <a:r>
              <a:rPr lang="en-US" sz="1200">
                <a:solidFill>
                  <a:srgbClr val="FFFFFF"/>
                </a:solidFill>
              </a:rPr>
              <a:t/>
            </a:r>
          </a:p>
          <a:p xmlns:a="http://schemas.openxmlformats.org/drawingml/2006/main">
            <a:r>
              <a:rPr lang="en-US" sz="1200">
                <a:solidFill>
                  <a:srgbClr val="FFFFFF"/>
                </a:solidFill>
              </a:rPr>
              <a:t>setup_project.py</a:t>
            </a:r>
          </a:p>
        </p:txBody>
      </p:sp>
      <p:sp>
        <p:nvSpPr>
          <p:cNvPr id="100029" name="Phase2"/>
          <p:cNvSpPr txBox="1"/>
          <p:nvPr/>
        </p:nvSpPr>
        <p:spPr>
          <a:xfrm xmlns:a="http://schemas.openxmlformats.org/drawingml/2006/main">
            <a:off x="2520000" y="1260000"/>
            <a:ext cx="1980000" cy="2880000"/>
          </a:xfrm>
          <a:prstGeom xmlns:a="http://schemas.openxmlformats.org/drawingml/2006/main" prst="rect">
            <a:avLst/>
          </a:prstGeom>
          <a:solidFill xmlns:a="http://schemas.openxmlformats.org/drawingml/2006/main">
            <a:srgbClr val="2E5FA3"/>
          </a:solidFill>
        </p:spPr>
        <p:txBody>
          <a:bodyPr xmlns:a="http://schemas.openxmlformats.org/drawingml/2006/main"/>
          <a:lstStyle xmlns:a="http://schemas.openxmlformats.org/drawingml/2006/main"/>
          <a:p xmlns:a="http://schemas.openxmlformats.org/drawingml/2006/main">
            <a:r>
              <a:rPr lang="en-US" sz="1200">
                <a:solidFill>
                  <a:srgbClr val="FFFFFF"/>
                </a:solidFill>
              </a:rPr>
              <a:t>2. Data</a:t>
            </a:r>
          </a:p>
          <a:p xmlns:a="http://schemas.openxmlformats.org/drawingml/2006/main">
            <a:r>
              <a:rPr lang="en-US" sz="1200">
                <a:solidFill>
                  <a:srgbClr val="FFFFFF"/>
                </a:solidFill>
              </a:rPr>
              <a:t>Understanding</a:t>
            </a:r>
          </a:p>
          <a:p xmlns:a="http://schemas.openxmlformats.org/drawingml/2006/main">
            <a:r>
              <a:rPr lang="en-US" sz="1200">
                <a:solidFill>
                  <a:srgbClr val="FFFFFF"/>
                </a:solidFill>
              </a:rPr>
              <a:t/>
            </a:r>
          </a:p>
          <a:p xmlns:a="http://schemas.openxmlformats.org/drawingml/2006/main">
            <a:r>
              <a:rPr lang="en-US" sz="1200">
                <a:solidFill>
                  <a:srgbClr val="FFFFFF"/>
                </a:solidFill>
              </a:rPr>
              <a:t>14-col, 6-make</a:t>
            </a:r>
          </a:p>
          <a:p xmlns:a="http://schemas.openxmlformats.org/drawingml/2006/main">
            <a:r>
              <a:rPr lang="en-US" sz="1200">
                <a:solidFill>
                  <a:srgbClr val="FFFFFF"/>
                </a:solidFill>
              </a:rPr>
              <a:t>automotive dataset</a:t>
            </a:r>
          </a:p>
          <a:p xmlns:a="http://schemas.openxmlformats.org/drawingml/2006/main">
            <a:r>
              <a:rPr lang="en-US" sz="1200">
                <a:solidFill>
                  <a:srgbClr val="FFFFFF"/>
                </a:solidFill>
              </a:rPr>
              <a:t/>
            </a:r>
          </a:p>
          <a:p xmlns:a="http://schemas.openxmlformats.org/drawingml/2006/main">
            <a:r>
              <a:rPr lang="en-US" sz="1200">
                <a:solidFill>
                  <a:srgbClr val="FFFFFF"/>
                </a:solidFill>
              </a:rPr>
              <a:t>data_cleaning.py</a:t>
            </a:r>
          </a:p>
        </p:txBody>
      </p:sp>
      <p:sp>
        <p:nvSpPr>
          <p:cNvPr id="100030" name="Phase3"/>
          <p:cNvSpPr txBox="1"/>
          <p:nvPr/>
        </p:nvSpPr>
        <p:spPr>
          <a:xfrm xmlns:a="http://schemas.openxmlformats.org/drawingml/2006/main">
            <a:off x="4680000" y="1260000"/>
            <a:ext cx="1980000" cy="2880000"/>
          </a:xfrm>
          <a:prstGeom xmlns:a="http://schemas.openxmlformats.org/drawingml/2006/main" prst="rect">
            <a:avLst/>
          </a:prstGeom>
          <a:solidFill xmlns:a="http://schemas.openxmlformats.org/drawingml/2006/main">
            <a:srgbClr val="2980B9"/>
          </a:solidFill>
        </p:spPr>
        <p:txBody>
          <a:bodyPr xmlns:a="http://schemas.openxmlformats.org/drawingml/2006/main"/>
          <a:lstStyle xmlns:a="http://schemas.openxmlformats.org/drawingml/2006/main"/>
          <a:p xmlns:a="http://schemas.openxmlformats.org/drawingml/2006/main">
            <a:r>
              <a:rPr lang="en-US" sz="1200">
                <a:solidFill>
                  <a:srgbClr val="FFFFFF"/>
                </a:solidFill>
              </a:rPr>
              <a:t>3. Data</a:t>
            </a:r>
          </a:p>
          <a:p xmlns:a="http://schemas.openxmlformats.org/drawingml/2006/main">
            <a:r>
              <a:rPr lang="en-US" sz="1200">
                <a:solidFill>
                  <a:srgbClr val="FFFFFF"/>
                </a:solidFill>
              </a:rPr>
              <a:t>Preparation</a:t>
            </a:r>
          </a:p>
          <a:p xmlns:a="http://schemas.openxmlformats.org/drawingml/2006/main">
            <a:r>
              <a:rPr lang="en-US" sz="1200">
                <a:solidFill>
                  <a:srgbClr val="FFFFFF"/>
                </a:solidFill>
              </a:rPr>
              <a:t/>
            </a:r>
          </a:p>
          <a:p xmlns:a="http://schemas.openxmlformats.org/drawingml/2006/main">
            <a:r>
              <a:rPr lang="en-US" sz="1200">
                <a:solidFill>
                  <a:srgbClr val="FFFFFF"/>
                </a:solidFill>
              </a:rPr>
              <a:t>ICMP imputation</a:t>
            </a:r>
          </a:p>
          <a:p xmlns:a="http://schemas.openxmlformats.org/drawingml/2006/main">
            <a:r>
              <a:rPr lang="en-US" sz="1200">
                <a:solidFill>
                  <a:srgbClr val="FFFFFF"/>
                </a:solidFill>
              </a:rPr>
              <a:t>brand-grouped</a:t>
            </a:r>
          </a:p>
          <a:p xmlns:a="http://schemas.openxmlformats.org/drawingml/2006/main">
            <a:r>
              <a:rPr lang="en-US" sz="1200">
                <a:solidFill>
                  <a:srgbClr val="FFFFFF"/>
                </a:solidFill>
              </a:rPr>
              <a:t>medians</a:t>
            </a:r>
          </a:p>
        </p:txBody>
      </p:sp>
      <p:sp>
        <p:nvSpPr>
          <p:cNvPr id="100031" name="Phase4"/>
          <p:cNvSpPr txBox="1"/>
          <p:nvPr/>
        </p:nvSpPr>
        <p:spPr>
          <a:xfrm xmlns:a="http://schemas.openxmlformats.org/drawingml/2006/main">
            <a:off x="6840000" y="1260000"/>
            <a:ext cx="1980000" cy="2880000"/>
          </a:xfrm>
          <a:prstGeom xmlns:a="http://schemas.openxmlformats.org/drawingml/2006/main" prst="rect">
            <a:avLst/>
          </a:prstGeom>
          <a:solidFill xmlns:a="http://schemas.openxmlformats.org/drawingml/2006/main">
            <a:srgbClr val="16A085"/>
          </a:solidFill>
        </p:spPr>
        <p:txBody>
          <a:bodyPr xmlns:a="http://schemas.openxmlformats.org/drawingml/2006/main"/>
          <a:lstStyle xmlns:a="http://schemas.openxmlformats.org/drawingml/2006/main"/>
          <a:p xmlns:a="http://schemas.openxmlformats.org/drawingml/2006/main">
            <a:r>
              <a:rPr lang="en-US" sz="1200">
                <a:solidFill>
                  <a:srgbClr val="FFFFFF"/>
                </a:solidFill>
              </a:rPr>
              <a:t>4. Feature</a:t>
            </a:r>
          </a:p>
          <a:p xmlns:a="http://schemas.openxmlformats.org/drawingml/2006/main">
            <a:r>
              <a:rPr lang="en-US" sz="1200">
                <a:solidFill>
                  <a:srgbClr val="FFFFFF"/>
                </a:solidFill>
              </a:rPr>
              <a:t>Engineering</a:t>
            </a:r>
          </a:p>
          <a:p xmlns:a="http://schemas.openxmlformats.org/drawingml/2006/main">
            <a:r>
              <a:rPr lang="en-US" sz="1200">
                <a:solidFill>
                  <a:srgbClr val="FFFFFF"/>
                </a:solidFill>
              </a:rPr>
              <a:t/>
            </a:r>
          </a:p>
          <a:p xmlns:a="http://schemas.openxmlformats.org/drawingml/2006/main">
            <a:r>
              <a:rPr lang="en-US" sz="1200">
                <a:solidFill>
                  <a:srgbClr val="FFFFFF"/>
                </a:solidFill>
              </a:rPr>
              <a:t>L/100km, OHE</a:t>
            </a:r>
          </a:p>
          <a:p xmlns:a="http://schemas.openxmlformats.org/drawingml/2006/main">
            <a:r>
              <a:rPr lang="en-US" sz="1200">
                <a:solidFill>
                  <a:srgbClr val="FFFFFF"/>
                </a:solidFill>
              </a:rPr>
              <a:t>perf_efficiency</a:t>
            </a:r>
          </a:p>
          <a:p xmlns:a="http://schemas.openxmlformats.org/drawingml/2006/main">
            <a:r>
              <a:rPr lang="en-US" sz="1200">
                <a:solidFill>
                  <a:srgbClr val="FFFFFF"/>
                </a:solidFill>
              </a:rPr>
              <a:t/>
            </a:r>
          </a:p>
          <a:p xmlns:a="http://schemas.openxmlformats.org/drawingml/2006/main">
            <a:r>
              <a:rPr lang="en-US" sz="1200">
                <a:solidFill>
                  <a:srgbClr val="FFFFFF"/>
                </a:solidFill>
              </a:rPr>
              <a:t>engineering.py</a:t>
            </a:r>
          </a:p>
        </p:txBody>
      </p:sp>
      <p:sp>
        <p:nvSpPr>
          <p:cNvPr id="100032" name="Phase5"/>
          <p:cNvSpPr txBox="1"/>
          <p:nvPr/>
        </p:nvSpPr>
        <p:spPr>
          <a:xfrm xmlns:a="http://schemas.openxmlformats.org/drawingml/2006/main">
            <a:off x="9000000" y="1260000"/>
            <a:ext cx="1980000" cy="2880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200">
                <a:solidFill>
                  <a:srgbClr val="FFFFFF"/>
                </a:solidFill>
              </a:rPr>
              <a:t>5. Evaluation</a:t>
            </a:r>
          </a:p>
          <a:p xmlns:a="http://schemas.openxmlformats.org/drawingml/2006/main">
            <a:r>
              <a:rPr lang="en-US" sz="1200">
                <a:solidFill>
                  <a:srgbClr val="FFFFFF"/>
                </a:solidFill>
              </a:rPr>
              <a:t/>
            </a:r>
          </a:p>
          <a:p xmlns:a="http://schemas.openxmlformats.org/drawingml/2006/main">
            <a:r>
              <a:rPr lang="en-US" sz="1200">
                <a:solidFill>
                  <a:srgbClr val="FFFFFF"/>
                </a:solidFill>
              </a:rPr>
              <a:t>Pearson corr.</a:t>
            </a:r>
          </a:p>
          <a:p xmlns:a="http://schemas.openxmlformats.org/drawingml/2006/main">
            <a:r>
              <a:rPr lang="en-US" sz="1200">
                <a:solidFill>
                  <a:srgbClr val="FFFFFF"/>
                </a:solidFill>
              </a:rPr>
              <a:t>Skewness plots</a:t>
            </a:r>
          </a:p>
          <a:p xmlns:a="http://schemas.openxmlformats.org/drawingml/2006/main">
            <a:r>
              <a:rPr lang="en-US" sz="1200">
                <a:solidFill>
                  <a:srgbClr val="FFFFFF"/>
                </a:solidFill>
              </a:rPr>
              <a:t>Regression figs</a:t>
            </a:r>
          </a:p>
          <a:p xmlns:a="http://schemas.openxmlformats.org/drawingml/2006/main">
            <a:r>
              <a:rPr lang="en-US" sz="1200">
                <a:solidFill>
                  <a:srgbClr val="FFFFFF"/>
                </a:solidFill>
              </a:rPr>
              <a:t/>
            </a:r>
          </a:p>
          <a:p xmlns:a="http://schemas.openxmlformats.org/drawingml/2006/main">
            <a:r>
              <a:rPr lang="en-US" sz="1200">
                <a:solidFill>
                  <a:srgbClr val="FFFFFF"/>
                </a:solidFill>
              </a:rPr>
              <a:t>visualization.py</a:t>
            </a:r>
          </a:p>
        </p:txBody>
      </p:sp>
      <p:sp>
        <p:nvSpPr>
          <p:cNvPr id="100033" name="DataBanner"/>
          <p:cNvSpPr txBox="1"/>
          <p:nvPr/>
        </p:nvSpPr>
        <p:spPr>
          <a:xfrm xmlns:a="http://schemas.openxmlformats.org/drawingml/2006/main">
            <a:off x="360000" y="4320000"/>
            <a:ext cx="11160000" cy="432000"/>
          </a:xfrm>
          <a:prstGeom xmlns:a="http://schemas.openxmlformats.org/drawingml/2006/main" prst="rect">
            <a:avLst/>
          </a:prstGeom>
          <a:solidFill xmlns:a="http://schemas.openxmlformats.org/drawingml/2006/main">
            <a:srgbClr val="C0392B"/>
          </a:solidFill>
        </p:spPr>
        <p:txBody>
          <a:bodyPr xmlns:a="http://schemas.openxmlformats.org/drawingml/2006/main"/>
          <a:lstStyle xmlns:a="http://schemas.openxmlformats.org/drawingml/2006/main"/>
          <a:p xmlns:a="http://schemas.openxmlformats.org/drawingml/2006/main">
            <a:r>
              <a:rPr lang="en-US" sz="1300" b="1">
                <a:solidFill>
                  <a:srgbClr val="FFFFFF"/>
                </a:solidFill>
              </a:rPr>
              <a:t>40-row reproducible dataset  |  seed = 42  |  6 manufacturers  |  14 attributes  |  0 residual NaN post-imputation</a:t>
            </a:r>
          </a:p>
        </p:txBody>
      </p:sp>
      <p:sp>
        <p:nvSpPr>
          <p:cNvPr id="100034" name="Bullet1"/>
          <p:cNvSpPr txBox="1"/>
          <p:nvPr/>
        </p:nvSpPr>
        <p:spPr>
          <a:xfrm xmlns:a="http://schemas.openxmlformats.org/drawingml/2006/main">
            <a:off x="540000" y="4860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Five-module pipeline is fully reproducible with pinned dependencies and fixed random seed 42.</a:t>
            </a:r>
          </a:p>
        </p:txBody>
      </p:sp>
      <p:sp>
        <p:nvSpPr>
          <p:cNvPr id="100035" name="Bullet2"/>
          <p:cNvSpPr txBox="1"/>
          <p:nvPr/>
        </p:nvSpPr>
        <p:spPr>
          <a:xfrm xmlns:a="http://schemas.openxmlformats.org/drawingml/2006/main">
            <a:off x="540000" y="5148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Fourteen attributes span powertrain, structural, actuarial, and market-value dimensions for multi-domain analysis.</a:t>
            </a:r>
          </a:p>
        </p:txBody>
      </p:sp>
      <p:sp>
        <p:nvSpPr>
          <p:cNvPr id="100036" name="Bullet3"/>
          <p:cNvSpPr txBox="1"/>
          <p:nvPr/>
        </p:nvSpPr>
        <p:spPr>
          <a:xfrm xmlns:a="http://schemas.openxmlformats.org/drawingml/2006/main">
            <a:off x="540000" y="5436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Zero residual NaN values in all target columns after ICMP pass, confirmed by assertion in pipeline test.</a:t>
            </a:r>
          </a:p>
        </p:txBody>
      </p:sp>
      <p:sp>
        <p:nvSpPr>
          <p:cNvPr id="100037" name="SlideNum"/>
          <p:cNvSpPr txBox="1"/>
          <p:nvPr/>
        </p:nvSpPr>
        <p:spPr>
          <a:xfrm xmlns:a="http://schemas.openxmlformats.org/drawingml/2006/main">
            <a:off x="10440000" y="6480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999999"/>
                </a:solidFill>
              </a:rPr>
              <a:t>4 / 10</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8"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b="1">
                <a:solidFill>
                  <a:srgbClr val="FFFFFF"/>
                </a:solidFill>
              </a:rPr>
              <a:t>Data Preparation: Conditional Median Imputation</a:t>
            </a:r>
          </a:p>
        </p:txBody>
      </p:sp>
      <p:sp>
        <p:nvSpPr>
          <p:cNvPr id="100039" name="SlideTitle"/>
          <p:cNvSpPr txBox="1"/>
          <p:nvPr/>
        </p:nvSpPr>
        <p:spPr>
          <a:xfrm xmlns:a="http://schemas.openxmlformats.org/drawingml/2006/main">
            <a:off x="540000" y="54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1E3A5F"/>
                </a:solidFill>
              </a:rPr>
              <a:t>Iterative Conditional Median Profiling: Preserving Intra-Brand Variance</a:t>
            </a:r>
          </a:p>
        </p:txBody>
      </p:sp>
      <p:sp>
        <p:nvSpPr>
          <p:cNvPr id="100040" name="BrandBox"/>
          <p:cNvSpPr txBox="1"/>
          <p:nvPr/>
        </p:nvSpPr>
        <p:spPr>
          <a:xfrm xmlns:a="http://schemas.openxmlformats.org/drawingml/2006/main">
            <a:off x="540000" y="1260000"/>
            <a:ext cx="5220000" cy="2880000"/>
          </a:xfrm>
          <a:prstGeom xmlns:a="http://schemas.openxmlformats.org/drawingml/2006/main" prst="rect">
            <a:avLst/>
          </a:prstGeom>
          <a:solidFill xmlns:a="http://schemas.openxmlformats.org/drawingml/2006/main">
            <a:srgbClr val="DBEAFE"/>
          </a:solidFill>
        </p:spPr>
        <p:txBody>
          <a:bodyPr xmlns:a="http://schemas.openxmlformats.org/drawingml/2006/main"/>
          <a:lstStyle xmlns:a="http://schemas.openxmlformats.org/drawingml/2006/main"/>
          <a:p xmlns:a="http://schemas.openxmlformats.org/drawingml/2006/main">
            <a:r>
              <a:rPr lang="en-US" sz="1400">
                <a:solidFill>
                  <a:srgbClr val="1E3A5F"/>
                </a:solidFill>
              </a:rPr>
              <a:t>BRAND-CONDITIONAL TIER (Primary)</a:t>
            </a:r>
          </a:p>
          <a:p xmlns:a="http://schemas.openxmlformats.org/drawingml/2006/main">
            <a:r>
              <a:rPr lang="en-US" sz="1400">
                <a:solidFill>
                  <a:srgbClr val="1E3A5F"/>
                </a:solidFill>
              </a:rPr>
              <a:t/>
            </a:r>
          </a:p>
          <a:p xmlns:a="http://schemas.openxmlformats.org/drawingml/2006/main">
            <a:r>
              <a:rPr lang="en-US" sz="1400">
                <a:solidFill>
                  <a:srgbClr val="1E3A5F"/>
                </a:solidFill>
              </a:rPr>
              <a:t>For each missing value in column c, for row i in manufacturer group G(k):</a:t>
            </a:r>
          </a:p>
          <a:p xmlns:a="http://schemas.openxmlformats.org/drawingml/2006/main">
            <a:r>
              <a:rPr lang="en-US" sz="1400">
                <a:solidFill>
                  <a:srgbClr val="1E3A5F"/>
                </a:solidFill>
              </a:rPr>
              <a:t/>
            </a:r>
          </a:p>
          <a:p xmlns:a="http://schemas.openxmlformats.org/drawingml/2006/main">
            <a:r>
              <a:rPr lang="en-US" sz="1400">
                <a:solidFill>
                  <a:srgbClr val="1E3A5F"/>
                </a:solidFill>
              </a:rPr>
              <a:t>x_hat = median { x(j,c) : j in G(k), x(j,c) != NaN }</a:t>
            </a:r>
          </a:p>
          <a:p xmlns:a="http://schemas.openxmlformats.org/drawingml/2006/main">
            <a:r>
              <a:rPr lang="en-US" sz="1400">
                <a:solidFill>
                  <a:srgbClr val="1E3A5F"/>
                </a:solidFill>
              </a:rPr>
              <a:t/>
            </a:r>
          </a:p>
          <a:p xmlns:a="http://schemas.openxmlformats.org/drawingml/2006/main">
            <a:r>
              <a:rPr lang="en-US" sz="1400">
                <a:solidFill>
                  <a:srgbClr val="1E3A5F"/>
                </a:solidFill>
              </a:rPr>
              <a:t>Result: brand-specific fill preserves intra-manufacturer variance structure</a:t>
            </a:r>
          </a:p>
        </p:txBody>
      </p:sp>
      <p:sp>
        <p:nvSpPr>
          <p:cNvPr id="100041" name="GlobalBox"/>
          <p:cNvSpPr txBox="1"/>
          <p:nvPr/>
        </p:nvSpPr>
        <p:spPr>
          <a:xfrm xmlns:a="http://schemas.openxmlformats.org/drawingml/2006/main">
            <a:off x="6300000" y="1260000"/>
            <a:ext cx="5220000" cy="2880000"/>
          </a:xfrm>
          <a:prstGeom xmlns:a="http://schemas.openxmlformats.org/drawingml/2006/main" prst="rect">
            <a:avLst/>
          </a:prstGeom>
          <a:solidFill xmlns:a="http://schemas.openxmlformats.org/drawingml/2006/main">
            <a:srgbClr val="FADBD8"/>
          </a:solidFill>
        </p:spPr>
        <p:txBody>
          <a:bodyPr xmlns:a="http://schemas.openxmlformats.org/drawingml/2006/main"/>
          <a:lstStyle xmlns:a="http://schemas.openxmlformats.org/drawingml/2006/main"/>
          <a:p xmlns:a="http://schemas.openxmlformats.org/drawingml/2006/main">
            <a:r>
              <a:rPr lang="en-US" sz="1400">
                <a:solidFill>
                  <a:srgbClr val="7B1E1E"/>
                </a:solidFill>
              </a:rPr>
              <a:t>GLOBAL FALLBACK TIER (Safety Net)</a:t>
            </a:r>
          </a:p>
          <a:p xmlns:a="http://schemas.openxmlformats.org/drawingml/2006/main">
            <a:r>
              <a:rPr lang="en-US" sz="1400">
                <a:solidFill>
                  <a:srgbClr val="7B1E1E"/>
                </a:solidFill>
              </a:rPr>
              <a:t/>
            </a:r>
          </a:p>
          <a:p xmlns:a="http://schemas.openxmlformats.org/drawingml/2006/main">
            <a:r>
              <a:rPr lang="en-US" sz="1400">
                <a:solidFill>
                  <a:srgbClr val="7B1E1E"/>
                </a:solidFill>
              </a:rPr>
              <a:t>Invoked only when entire brand group G(k) is null for column c:</a:t>
            </a:r>
          </a:p>
          <a:p xmlns:a="http://schemas.openxmlformats.org/drawingml/2006/main">
            <a:r>
              <a:rPr lang="en-US" sz="1400">
                <a:solidFill>
                  <a:srgbClr val="7B1E1E"/>
                </a:solidFill>
              </a:rPr>
              <a:t/>
            </a:r>
          </a:p>
          <a:p xmlns:a="http://schemas.openxmlformats.org/drawingml/2006/main">
            <a:r>
              <a:rPr lang="en-US" sz="1400">
                <a:solidFill>
                  <a:srgbClr val="7B1E1E"/>
                </a:solidFill>
              </a:rPr>
              <a:t>x_hat = median { x(j,c) : j in D, x(j,c) != NaN }</a:t>
            </a:r>
          </a:p>
          <a:p xmlns:a="http://schemas.openxmlformats.org/drawingml/2006/main">
            <a:r>
              <a:rPr lang="en-US" sz="1400">
                <a:solidFill>
                  <a:srgbClr val="7B1E1E"/>
                </a:solidFill>
              </a:rPr>
              <a:t/>
            </a:r>
          </a:p>
          <a:p xmlns:a="http://schemas.openxmlformats.org/drawingml/2006/main">
            <a:r>
              <a:rPr lang="en-US" sz="1400">
                <a:solidFill>
                  <a:srgbClr val="7B1E1E"/>
                </a:solidFill>
              </a:rPr>
              <a:t>Result: dataset-level fallback guarantees 0 residual NaN after pass</a:t>
            </a:r>
          </a:p>
        </p:txBody>
      </p:sp>
      <p:sp>
        <p:nvSpPr>
          <p:cNvPr id="100042" name="OutcomeBar"/>
          <p:cNvSpPr txBox="1"/>
          <p:nvPr/>
        </p:nvSpPr>
        <p:spPr>
          <a:xfrm xmlns:a="http://schemas.openxmlformats.org/drawingml/2006/main">
            <a:off x="540000" y="4320000"/>
            <a:ext cx="10800000" cy="540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300" b="1">
                <a:solidFill>
                  <a:srgbClr val="FFFFFF"/>
                </a:solidFill>
              </a:rPr>
              <a:t>Columns treated: normalized-losses  |  bore  |  stroke     Missing cells resolved: 18 total  |  Tier 1 applied: 18  |  Tier 2 invoked: 0  |  Residual NaN: 0</a:t>
            </a:r>
          </a:p>
        </p:txBody>
      </p:sp>
      <p:sp>
        <p:nvSpPr>
          <p:cNvPr id="100043" name="Bullet1"/>
          <p:cNvSpPr txBox="1"/>
          <p:nvPr/>
        </p:nvSpPr>
        <p:spPr>
          <a:xfrm xmlns:a="http://schemas.openxmlformats.org/drawingml/2006/main">
            <a:off x="540000" y="5040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Brand-conditional imputation preserves manufacturer-level variance, preventing artificial convergence toward a single global mean.</a:t>
            </a:r>
          </a:p>
        </p:txBody>
      </p:sp>
      <p:sp>
        <p:nvSpPr>
          <p:cNvPr id="100044" name="Bullet2"/>
          <p:cNvSpPr txBox="1"/>
          <p:nvPr/>
        </p:nvSpPr>
        <p:spPr>
          <a:xfrm xmlns:a="http://schemas.openxmlformats.org/drawingml/2006/main">
            <a:off x="540000" y="5364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Global fallback tier guarantees zero residual NaN values even when entire manufacturer groups contain no valid observations.</a:t>
            </a:r>
          </a:p>
        </p:txBody>
      </p:sp>
      <p:sp>
        <p:nvSpPr>
          <p:cNvPr id="100045" name="Bullet3"/>
          <p:cNvSpPr txBox="1"/>
          <p:nvPr/>
        </p:nvSpPr>
        <p:spPr>
          <a:xfrm xmlns:a="http://schemas.openxmlformats.org/drawingml/2006/main">
            <a:off x="540000" y="5688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All 18 missing values were resolved exclusively via the brand-conditional tier in this dataset — no fallback required.</a:t>
            </a:r>
          </a:p>
        </p:txBody>
      </p:sp>
      <p:sp>
        <p:nvSpPr>
          <p:cNvPr id="100046" name="SlideNum"/>
          <p:cNvSpPr txBox="1"/>
          <p:nvPr/>
        </p:nvSpPr>
        <p:spPr>
          <a:xfrm xmlns:a="http://schemas.openxmlformats.org/drawingml/2006/main">
            <a:off x="10440000" y="6480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999999"/>
                </a:solidFill>
              </a:rPr>
              <a:t>5 / 10</a:t>
            </a:r>
          </a:p>
        </p:txBody>
      </p:sp>
    </p:spTree>
  </p:cSld>
</p:sld>
</file>

<file path=ppt/slides/slide6.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47"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b="1">
                <a:solidFill>
                  <a:srgbClr val="FFFFFF"/>
                </a:solidFill>
              </a:rPr>
              <a:t>Pearson Correlation Analysis</a:t>
            </a:r>
          </a:p>
        </p:txBody>
      </p:sp>
      <p:sp>
        <p:nvSpPr>
          <p:cNvPr id="100048" name="SlideTitle"/>
          <p:cNvSpPr txBox="1"/>
          <p:nvPr/>
        </p:nvSpPr>
        <p:spPr>
          <a:xfrm xmlns:a="http://schemas.openxmlformats.org/drawingml/2006/main">
            <a:off x="540000" y="54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1E3A5F"/>
                </a:solidFill>
              </a:rPr>
              <a:t>Pearson Correlation Matrix: Structural Attribute Interdependencies</a:t>
            </a:r>
          </a:p>
        </p:txBody>
      </p:sp>
      <p:sp>
        <p:nvSpPr>
          <p:cNvPr id="100050" name="FindingA"/>
          <p:cNvSpPr txBox="1"/>
          <p:nvPr/>
        </p:nvSpPr>
        <p:spPr>
          <a:xfrm xmlns:a="http://schemas.openxmlformats.org/drawingml/2006/main">
            <a:off x="7740000" y="1188000"/>
            <a:ext cx="3600000" cy="1188000"/>
          </a:xfrm>
          <a:prstGeom xmlns:a="http://schemas.openxmlformats.org/drawingml/2006/main" prst="rect">
            <a:avLst/>
          </a:prstGeom>
          <a:solidFill xmlns:a="http://schemas.openxmlformats.org/drawingml/2006/main">
            <a:srgbClr val="FADBD8"/>
          </a:solidFill>
        </p:spPr>
        <p:txBody>
          <a:bodyPr xmlns:a="http://schemas.openxmlformats.org/drawingml/2006/main"/>
          <a:lstStyle xmlns:a="http://schemas.openxmlformats.org/drawingml/2006/main"/>
          <a:p xmlns:a="http://schemas.openxmlformats.org/drawingml/2006/main">
            <a:r>
              <a:rPr lang="en-US" sz="1300">
                <a:solidFill>
                  <a:srgbClr val="7B1E1E"/>
                </a:solidFill>
              </a:rPr>
              <a:t>r = +0.74</a:t>
            </a:r>
          </a:p>
          <a:p xmlns:a="http://schemas.openxmlformats.org/drawingml/2006/main">
            <a:r>
              <a:rPr lang="en-US" sz="1300">
                <a:solidFill>
                  <a:srgbClr val="7B1E1E"/>
                </a:solidFill>
              </a:rPr>
              <a:t>Curb-weight vs. Horsepower</a:t>
            </a:r>
          </a:p>
          <a:p xmlns:a="http://schemas.openxmlformats.org/drawingml/2006/main">
            <a:r>
              <a:rPr lang="en-US" sz="1300">
                <a:solidFill>
                  <a:srgbClr val="7B1E1E"/>
                </a:solidFill>
              </a:rPr>
              <a:t/>
            </a:r>
          </a:p>
          <a:p xmlns:a="http://schemas.openxmlformats.org/drawingml/2006/main">
            <a:r>
              <a:rPr lang="en-US" sz="1300">
                <a:solidFill>
                  <a:srgbClr val="7B1E1E"/>
                </a:solidFill>
              </a:rPr>
              <a:t>Self-reinforcing mass-power spiral: heavier vehicles carry larger powertrains</a:t>
            </a:r>
          </a:p>
        </p:txBody>
      </p:sp>
      <p:sp>
        <p:nvSpPr>
          <p:cNvPr id="100051" name="FindingB"/>
          <p:cNvSpPr txBox="1"/>
          <p:nvPr/>
        </p:nvSpPr>
        <p:spPr>
          <a:xfrm xmlns:a="http://schemas.openxmlformats.org/drawingml/2006/main">
            <a:off x="7740000" y="2520000"/>
            <a:ext cx="3600000" cy="1188000"/>
          </a:xfrm>
          <a:prstGeom xmlns:a="http://schemas.openxmlformats.org/drawingml/2006/main" prst="rect">
            <a:avLst/>
          </a:prstGeom>
          <a:solidFill xmlns:a="http://schemas.openxmlformats.org/drawingml/2006/main">
            <a:srgbClr val="D5F5E3"/>
          </a:solidFill>
        </p:spPr>
        <p:txBody>
          <a:bodyPr xmlns:a="http://schemas.openxmlformats.org/drawingml/2006/main"/>
          <a:lstStyle xmlns:a="http://schemas.openxmlformats.org/drawingml/2006/main"/>
          <a:p xmlns:a="http://schemas.openxmlformats.org/drawingml/2006/main">
            <a:r>
              <a:rPr lang="en-US" sz="1300">
                <a:solidFill>
                  <a:srgbClr val="145A32"/>
                </a:solidFill>
              </a:rPr>
              <a:t>r = +0.54</a:t>
            </a:r>
          </a:p>
          <a:p xmlns:a="http://schemas.openxmlformats.org/drawingml/2006/main">
            <a:r>
              <a:rPr lang="en-US" sz="1300">
                <a:solidFill>
                  <a:srgbClr val="145A32"/>
                </a:solidFill>
              </a:rPr>
              <a:t>Horsepower vs. Symboling</a:t>
            </a:r>
          </a:p>
          <a:p xmlns:a="http://schemas.openxmlformats.org/drawingml/2006/main">
            <a:r>
              <a:rPr lang="en-US" sz="1300">
                <a:solidFill>
                  <a:srgbClr val="145A32"/>
                </a:solidFill>
              </a:rPr>
              <a:t/>
            </a:r>
          </a:p>
          <a:p xmlns:a="http://schemas.openxmlformats.org/drawingml/2006/main">
            <a:r>
              <a:rPr lang="en-US" sz="1300">
                <a:solidFill>
                  <a:srgbClr val="145A32"/>
                </a:solidFill>
              </a:rPr>
              <a:t>Insurance risk penalty scales consistently with powertrain output</a:t>
            </a:r>
          </a:p>
        </p:txBody>
      </p:sp>
      <p:sp>
        <p:nvSpPr>
          <p:cNvPr id="100052" name="FindingC"/>
          <p:cNvSpPr txBox="1"/>
          <p:nvPr/>
        </p:nvSpPr>
        <p:spPr>
          <a:xfrm xmlns:a="http://schemas.openxmlformats.org/drawingml/2006/main">
            <a:off x="7740000" y="3852000"/>
            <a:ext cx="3600000" cy="1188000"/>
          </a:xfrm>
          <a:prstGeom xmlns:a="http://schemas.openxmlformats.org/drawingml/2006/main" prst="rect">
            <a:avLst/>
          </a:prstGeom>
          <a:solidFill xmlns:a="http://schemas.openxmlformats.org/drawingml/2006/main">
            <a:srgbClr val="DBEAFE"/>
          </a:solidFill>
        </p:spPr>
        <p:txBody>
          <a:bodyPr xmlns:a="http://schemas.openxmlformats.org/drawingml/2006/main"/>
          <a:lstStyle xmlns:a="http://schemas.openxmlformats.org/drawingml/2006/main"/>
          <a:p xmlns:a="http://schemas.openxmlformats.org/drawingml/2006/main">
            <a:r>
              <a:rPr lang="en-US" sz="1300">
                <a:solidFill>
                  <a:srgbClr val="1E3A5F"/>
                </a:solidFill>
              </a:rPr>
              <a:t>r = +0.86</a:t>
            </a:r>
          </a:p>
          <a:p xmlns:a="http://schemas.openxmlformats.org/drawingml/2006/main">
            <a:r>
              <a:rPr lang="en-US" sz="1300">
                <a:solidFill>
                  <a:srgbClr val="1E3A5F"/>
                </a:solidFill>
              </a:rPr>
              <a:t>Width vs. Curb-weight</a:t>
            </a:r>
          </a:p>
          <a:p xmlns:a="http://schemas.openxmlformats.org/drawingml/2006/main">
            <a:r>
              <a:rPr lang="en-US" sz="1300">
                <a:solidFill>
                  <a:srgbClr val="1E3A5F"/>
                </a:solidFill>
              </a:rPr>
              <a:t/>
            </a:r>
          </a:p>
          <a:p xmlns:a="http://schemas.openxmlformats.org/drawingml/2006/main">
            <a:r>
              <a:rPr lang="en-US" sz="1300">
                <a:solidFill>
                  <a:srgbClr val="1E3A5F"/>
                </a:solidFill>
              </a:rPr>
              <a:t>Body size growth is the primary structural mass driver</a:t>
            </a:r>
          </a:p>
        </p:txBody>
      </p:sp>
      <p:sp>
        <p:nvSpPr>
          <p:cNvPr id="100053" name="Bullet1"/>
          <p:cNvSpPr txBox="1"/>
          <p:nvPr/>
        </p:nvSpPr>
        <p:spPr>
          <a:xfrm xmlns:a="http://schemas.openxmlformats.org/drawingml/2006/main">
            <a:off x="540000" y="5328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Curb weight and horsepower exhibit r = +0.74, confirming a self-reinforcing mass-performance spiral compounding non-compliance.</a:t>
            </a:r>
          </a:p>
        </p:txBody>
      </p:sp>
      <p:sp>
        <p:nvSpPr>
          <p:cNvPr id="100054" name="Bullet2"/>
          <p:cNvSpPr txBox="1"/>
          <p:nvPr/>
        </p:nvSpPr>
        <p:spPr>
          <a:xfrm xmlns:a="http://schemas.openxmlformats.org/drawingml/2006/main">
            <a:off x="540000" y="5616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Horsepower and symboling exhibit r = +0.54, quantifying the actuarial risk penalty embedded in performance powertrain specifications.</a:t>
            </a:r>
          </a:p>
        </p:txBody>
      </p:sp>
      <p:sp>
        <p:nvSpPr>
          <p:cNvPr id="100055" name="Bullet3"/>
          <p:cNvSpPr txBox="1"/>
          <p:nvPr/>
        </p:nvSpPr>
        <p:spPr>
          <a:xfrm xmlns:a="http://schemas.openxmlformats.org/drawingml/2006/main">
            <a:off x="540000" y="5904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Width and curb weight exhibit r = +0.86, indicating body size increases impose structural mass penalties independent of powertrain.</a:t>
            </a:r>
          </a:p>
        </p:txBody>
      </p:sp>
      <p:sp>
        <p:nvSpPr>
          <p:cNvPr id="100056" name="SlideNum"/>
          <p:cNvSpPr txBox="1"/>
          <p:nvPr/>
        </p:nvSpPr>
        <p:spPr>
          <a:xfrm xmlns:a="http://schemas.openxmlformats.org/drawingml/2006/main">
            <a:off x="10440000" y="6480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999999"/>
                </a:solidFill>
              </a:rPr>
              <a:t>6 / 10</a:t>
            </a:r>
          </a:p>
        </p:txBody>
      </p:sp>
      <p:pic>
        <p:nvPicPr>
          <p:cNvPr id="100096" name="HeatmapImg"/>
          <p:cNvPicPr>
            <a:picLocks noChangeAspect="1"/>
          </p:cNvPicPr>
          <p:nvPr/>
        </p:nvPicPr>
        <p:blipFill>
          <a:blip xmlns:r="http://schemas.openxmlformats.org/officeDocument/2006/relationships" r:embed="R0c38ba81b94a463d"/>
          <a:stretch>
            <a:fillRect/>
          </a:stretch>
        </p:blipFill>
        <p:spPr>
          <a:xfrm>
            <a:off x="540000" y="1116000"/>
            <a:ext cx="6840000" cy="4140000"/>
          </a:xfrm>
          <a:prstGeom prst="rect">
            <a:avLst/>
          </a:prstGeom>
        </p:spPr>
      </p:pic>
    </p:spTree>
  </p:cSld>
</p:sld>
</file>

<file path=ppt/slides/slide7.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57"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b="1">
                <a:solidFill>
                  <a:srgbClr val="FFFFFF"/>
                </a:solidFill>
              </a:rPr>
              <a:t>Results: Downsizing Efficiency Dividend</a:t>
            </a:r>
          </a:p>
        </p:txBody>
      </p:sp>
      <p:sp>
        <p:nvSpPr>
          <p:cNvPr id="100058" name="SlideTitle"/>
          <p:cNvSpPr txBox="1"/>
          <p:nvPr/>
        </p:nvSpPr>
        <p:spPr>
          <a:xfrm xmlns:a="http://schemas.openxmlformats.org/drawingml/2006/main">
            <a:off x="540000" y="54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1E3A5F"/>
                </a:solidFill>
              </a:rPr>
              <a:t>The Downsizing Efficiency Dividend: &gt;22% City Fuel Consumption Reduction</a:t>
            </a:r>
          </a:p>
        </p:txBody>
      </p:sp>
      <p:sp>
        <p:nvSpPr>
          <p:cNvPr id="100060" name="Stat1"/>
          <p:cNvSpPr txBox="1"/>
          <p:nvPr/>
        </p:nvSpPr>
        <p:spPr>
          <a:xfrm xmlns:a="http://schemas.openxmlformats.org/drawingml/2006/main">
            <a:off x="7740000" y="1188000"/>
            <a:ext cx="3600000" cy="1620000"/>
          </a:xfrm>
          <a:prstGeom xmlns:a="http://schemas.openxmlformats.org/drawingml/2006/main" prst="rect">
            <a:avLst/>
          </a:prstGeom>
          <a:solidFill xmlns:a="http://schemas.openxmlformats.org/drawingml/2006/main">
            <a:srgbClr val="FADBD8"/>
          </a:solidFill>
        </p:spPr>
        <p:txBody>
          <a:bodyPr xmlns:a="http://schemas.openxmlformats.org/drawingml/2006/main"/>
          <a:lstStyle xmlns:a="http://schemas.openxmlformats.org/drawingml/2006/main"/>
          <a:p xmlns:a="http://schemas.openxmlformats.org/drawingml/2006/main">
            <a:r>
              <a:rPr lang="en-US" sz="3200" b="1">
                <a:solidFill>
                  <a:srgbClr val="C0392B"/>
                </a:solidFill>
              </a:rPr>
              <a:t>&gt;22%</a:t>
            </a:r>
          </a:p>
          <a:p xmlns:a="http://schemas.openxmlformats.org/drawingml/2006/main">
            <a:r>
              <a:rPr lang="en-US" sz="3200" b="1">
                <a:solidFill>
                  <a:srgbClr val="C0392B"/>
                </a:solidFill>
              </a:rPr>
              <a:t>City-cycle L/100km reduction</a:t>
            </a:r>
          </a:p>
          <a:p xmlns:a="http://schemas.openxmlformats.org/drawingml/2006/main">
            <a:r>
              <a:rPr lang="en-US" sz="3200" b="1">
                <a:solidFill>
                  <a:srgbClr val="C0392B"/>
                </a:solidFill>
              </a:rPr>
              <a:t>Turbo vs. Naturally Aspirated</a:t>
            </a:r>
          </a:p>
        </p:txBody>
      </p:sp>
      <p:sp>
        <p:nvSpPr>
          <p:cNvPr id="100061" name="Stat2"/>
          <p:cNvSpPr txBox="1"/>
          <p:nvPr/>
        </p:nvSpPr>
        <p:spPr>
          <a:xfrm xmlns:a="http://schemas.openxmlformats.org/drawingml/2006/main">
            <a:off x="7740000" y="2988000"/>
            <a:ext cx="3600000" cy="1440000"/>
          </a:xfrm>
          <a:prstGeom xmlns:a="http://schemas.openxmlformats.org/drawingml/2006/main" prst="rect">
            <a:avLst/>
          </a:prstGeom>
          <a:solidFill xmlns:a="http://schemas.openxmlformats.org/drawingml/2006/main">
            <a:srgbClr val="DBEAFE"/>
          </a:solidFill>
        </p:spPr>
        <p:txBody>
          <a:bodyPr xmlns:a="http://schemas.openxmlformats.org/drawingml/2006/main"/>
          <a:lstStyle xmlns:a="http://schemas.openxmlformats.org/drawingml/2006/main"/>
          <a:p xmlns:a="http://schemas.openxmlformats.org/drawingml/2006/main">
            <a:r>
              <a:rPr lang="en-US" sz="2800" b="1">
                <a:solidFill>
                  <a:srgbClr val="1E3A5F"/>
                </a:solidFill>
              </a:rPr>
              <a:t>r = +0.87</a:t>
            </a:r>
          </a:p>
          <a:p xmlns:a="http://schemas.openxmlformats.org/drawingml/2006/main">
            <a:r>
              <a:rPr lang="en-US" sz="2800" b="1">
                <a:solidFill>
                  <a:srgbClr val="1E3A5F"/>
                </a:solidFill>
              </a:rPr>
              <a:t>Engine size vs. city-L/100km</a:t>
            </a:r>
          </a:p>
          <a:p xmlns:a="http://schemas.openxmlformats.org/drawingml/2006/main">
            <a:r>
              <a:rPr lang="en-US" sz="2800" b="1">
                <a:solidFill>
                  <a:srgbClr val="1E3A5F"/>
                </a:solidFill>
              </a:rPr>
              <a:t>Pearson correlation</a:t>
            </a:r>
          </a:p>
        </p:txBody>
      </p:sp>
      <p:sp>
        <p:nvSpPr>
          <p:cNvPr id="100062" name="Mechanism"/>
          <p:cNvSpPr txBox="1"/>
          <p:nvPr/>
        </p:nvSpPr>
        <p:spPr>
          <a:xfrm xmlns:a="http://schemas.openxmlformats.org/drawingml/2006/main">
            <a:off x="540000" y="5112000"/>
            <a:ext cx="10800000" cy="540000"/>
          </a:xfrm>
          <a:prstGeom xmlns:a="http://schemas.openxmlformats.org/drawingml/2006/main" prst="rect">
            <a:avLst/>
          </a:prstGeom>
          <a:solidFill xmlns:a="http://schemas.openxmlformats.org/drawingml/2006/main">
            <a:srgbClr val="F0F4F8"/>
          </a:solidFill>
        </p:spPr>
        <p:txBody>
          <a:bodyPr xmlns:a="http://schemas.openxmlformats.org/drawingml/2006/main"/>
          <a:lstStyle xmlns:a="http://schemas.openxmlformats.org/drawingml/2006/main"/>
          <a:p xmlns:a="http://schemas.openxmlformats.org/drawingml/2006/main">
            <a:r>
              <a:rPr lang="en-US" sz="1200">
                <a:solidFill>
                  <a:srgbClr val="444444"/>
                </a:solidFill>
              </a:rPr>
              <a:t>Physical mechanism: turbocharged engines operate near thermodynamic efficiency optimum at part-load urban conditions where naturally aspirated engines incur maximum throttling losses.</a:t>
            </a:r>
          </a:p>
        </p:txBody>
      </p:sp>
      <p:sp>
        <p:nvSpPr>
          <p:cNvPr id="100063" name="Bullet1"/>
          <p:cNvSpPr txBox="1"/>
          <p:nvPr/>
        </p:nvSpPr>
        <p:spPr>
          <a:xfrm xmlns:a="http://schemas.openxmlformats.org/drawingml/2006/main">
            <a:off x="540000" y="5760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Turbocharged configurations achieve &gt;22% city-cycle fuel reduction versus naturally aspirated baselines at equivalent displacement.</a:t>
            </a:r>
          </a:p>
        </p:txBody>
      </p:sp>
      <p:sp>
        <p:nvSpPr>
          <p:cNvPr id="100064" name="Bullet2"/>
          <p:cNvSpPr txBox="1"/>
          <p:nvPr/>
        </p:nvSpPr>
        <p:spPr>
          <a:xfrm xmlns:a="http://schemas.openxmlformats.org/drawingml/2006/main">
            <a:off x="540000" y="6048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Pearson r = +0.87 between engine size and city-L/100km confirms displacement as the dominant fuel consumption predictor.</a:t>
            </a:r>
          </a:p>
        </p:txBody>
      </p:sp>
      <p:sp>
        <p:nvSpPr>
          <p:cNvPr id="100065" name="Bullet3"/>
          <p:cNvSpPr txBox="1"/>
          <p:nvPr/>
        </p:nvSpPr>
        <p:spPr>
          <a:xfrm xmlns:a="http://schemas.openxmlformats.org/drawingml/2006/main">
            <a:off x="540000" y="6336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Part-load thermodynamic efficiency advantage maximises turbo dividend precisely at urban drive-cycle operating points.</a:t>
            </a:r>
          </a:p>
        </p:txBody>
      </p:sp>
      <p:sp>
        <p:nvSpPr>
          <p:cNvPr id="100066" name="SlideNum"/>
          <p:cNvSpPr txBox="1"/>
          <p:nvPr/>
        </p:nvSpPr>
        <p:spPr>
          <a:xfrm xmlns:a="http://schemas.openxmlformats.org/drawingml/2006/main">
            <a:off x="10440000" y="6480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999999"/>
                </a:solidFill>
              </a:rPr>
              <a:t>7 / 10</a:t>
            </a:r>
          </a:p>
        </p:txBody>
      </p:sp>
      <p:pic>
        <p:nvPicPr>
          <p:cNvPr id="100097" name="RegressionImg"/>
          <p:cNvPicPr>
            <a:picLocks noChangeAspect="1"/>
          </p:cNvPicPr>
          <p:nvPr/>
        </p:nvPicPr>
        <p:blipFill>
          <a:blip xmlns:r="http://schemas.openxmlformats.org/officeDocument/2006/relationships" r:embed="R0c5ff5da4877481c"/>
          <a:stretch>
            <a:fillRect/>
          </a:stretch>
        </p:blipFill>
        <p:spPr>
          <a:xfrm>
            <a:off x="540000" y="1188000"/>
            <a:ext cx="6840000" cy="3780000"/>
          </a:xfrm>
          <a:prstGeom prst="rect">
            <a:avLst/>
          </a:prstGeom>
        </p:spPr>
      </p:pic>
    </p:spTree>
  </p:cSld>
</p:sld>
</file>

<file path=ppt/slides/slide8.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67"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b="1">
                <a:solidFill>
                  <a:srgbClr val="FFFFFF"/>
                </a:solidFill>
              </a:rPr>
              <a:t>Results: Curb-Weight Efficiency Penalty</a:t>
            </a:r>
          </a:p>
        </p:txBody>
      </p:sp>
      <p:sp>
        <p:nvSpPr>
          <p:cNvPr id="100068" name="SlideTitle"/>
          <p:cNvSpPr txBox="1"/>
          <p:nvPr/>
        </p:nvSpPr>
        <p:spPr>
          <a:xfrm xmlns:a="http://schemas.openxmlformats.org/drawingml/2006/main">
            <a:off x="540000" y="54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1E3A5F"/>
                </a:solidFill>
              </a:rPr>
              <a:t>The Curb-Weight Efficiency Penalty: -0.8 MPG Lost per 100 kg Added</a:t>
            </a:r>
          </a:p>
        </p:txBody>
      </p:sp>
      <p:sp>
        <p:nvSpPr>
          <p:cNvPr id="100070" name="Stat1"/>
          <p:cNvSpPr txBox="1"/>
          <p:nvPr/>
        </p:nvSpPr>
        <p:spPr>
          <a:xfrm xmlns:a="http://schemas.openxmlformats.org/drawingml/2006/main">
            <a:off x="7740000" y="1188000"/>
            <a:ext cx="3600000" cy="1440000"/>
          </a:xfrm>
          <a:prstGeom xmlns:a="http://schemas.openxmlformats.org/drawingml/2006/main" prst="rect">
            <a:avLst/>
          </a:prstGeom>
          <a:solidFill xmlns:a="http://schemas.openxmlformats.org/drawingml/2006/main">
            <a:srgbClr val="FADBD8"/>
          </a:solidFill>
        </p:spPr>
        <p:txBody>
          <a:bodyPr xmlns:a="http://schemas.openxmlformats.org/drawingml/2006/main"/>
          <a:lstStyle xmlns:a="http://schemas.openxmlformats.org/drawingml/2006/main"/>
          <a:p xmlns:a="http://schemas.openxmlformats.org/drawingml/2006/main">
            <a:r>
              <a:rPr lang="en-US" sz="2800" b="1">
                <a:solidFill>
                  <a:srgbClr val="C0392B"/>
                </a:solidFill>
              </a:rPr>
              <a:t>-0.8 MPG</a:t>
            </a:r>
          </a:p>
          <a:p xmlns:a="http://schemas.openxmlformats.org/drawingml/2006/main">
            <a:r>
              <a:rPr lang="en-US" sz="2800" b="1">
                <a:solidFill>
                  <a:srgbClr val="C0392B"/>
                </a:solidFill>
              </a:rPr>
              <a:t>per 100 kg added</a:t>
            </a:r>
          </a:p>
          <a:p xmlns:a="http://schemas.openxmlformats.org/drawingml/2006/main">
            <a:r>
              <a:rPr lang="en-US" sz="2800" b="1">
                <a:solidFill>
                  <a:srgbClr val="C0392B"/>
                </a:solidFill>
              </a:rPr>
              <a:t>OLS slope: -0.008 MPG/kg</a:t>
            </a:r>
          </a:p>
        </p:txBody>
      </p:sp>
      <p:sp>
        <p:nvSpPr>
          <p:cNvPr id="100071" name="Stat2"/>
          <p:cNvSpPr txBox="1"/>
          <p:nvPr/>
        </p:nvSpPr>
        <p:spPr>
          <a:xfrm xmlns:a="http://schemas.openxmlformats.org/drawingml/2006/main">
            <a:off x="7740000" y="2808000"/>
            <a:ext cx="3600000" cy="1368000"/>
          </a:xfrm>
          <a:prstGeom xmlns:a="http://schemas.openxmlformats.org/drawingml/2006/main" prst="rect">
            <a:avLst/>
          </a:prstGeom>
          <a:solidFill xmlns:a="http://schemas.openxmlformats.org/drawingml/2006/main">
            <a:srgbClr val="FFF3CD"/>
          </a:solidFill>
        </p:spPr>
        <p:txBody>
          <a:bodyPr xmlns:a="http://schemas.openxmlformats.org/drawingml/2006/main"/>
          <a:lstStyle xmlns:a="http://schemas.openxmlformats.org/drawingml/2006/main"/>
          <a:p xmlns:a="http://schemas.openxmlformats.org/drawingml/2006/main">
            <a:r>
              <a:rPr lang="en-US" sz="2600" b="1">
                <a:solidFill>
                  <a:srgbClr val="7B3F00"/>
                </a:solidFill>
              </a:rPr>
              <a:t>1,650 kg</a:t>
            </a:r>
          </a:p>
          <a:p xmlns:a="http://schemas.openxmlformats.org/drawingml/2006/main">
            <a:r>
              <a:rPr lang="en-US" sz="2600" b="1">
                <a:solidFill>
                  <a:srgbClr val="7B3F00"/>
                </a:solidFill>
              </a:rPr>
              <a:t>Critical threshold</a:t>
            </a:r>
          </a:p>
          <a:p xmlns:a="http://schemas.openxmlformats.org/drawingml/2006/main">
            <a:r>
              <a:rPr lang="en-US" sz="2600" b="1">
                <a:solidFill>
                  <a:srgbClr val="7B3F00"/>
                </a:solidFill>
              </a:rPr>
              <a:t>Above = fails &lt;7.5 L/100km</a:t>
            </a:r>
          </a:p>
        </p:txBody>
      </p:sp>
      <p:sp>
        <p:nvSpPr>
          <p:cNvPr id="100072" name="Stat3"/>
          <p:cNvSpPr txBox="1"/>
          <p:nvPr/>
        </p:nvSpPr>
        <p:spPr>
          <a:xfrm xmlns:a="http://schemas.openxmlformats.org/drawingml/2006/main">
            <a:off x="7740000" y="4320000"/>
            <a:ext cx="3600000" cy="900000"/>
          </a:xfrm>
          <a:prstGeom xmlns:a="http://schemas.openxmlformats.org/drawingml/2006/main" prst="rect">
            <a:avLst/>
          </a:prstGeom>
          <a:solidFill xmlns:a="http://schemas.openxmlformats.org/drawingml/2006/main">
            <a:srgbClr val="DBEAFE"/>
          </a:solidFill>
        </p:spPr>
        <p:txBody>
          <a:bodyPr xmlns:a="http://schemas.openxmlformats.org/drawingml/2006/main"/>
          <a:lstStyle xmlns:a="http://schemas.openxmlformats.org/drawingml/2006/main"/>
          <a:p xmlns:a="http://schemas.openxmlformats.org/drawingml/2006/main">
            <a:r>
              <a:rPr lang="en-US" sz="2200" b="1">
                <a:solidFill>
                  <a:srgbClr val="1E3A5F"/>
                </a:solidFill>
              </a:rPr>
              <a:t>r = -0.76</a:t>
            </a:r>
          </a:p>
          <a:p xmlns:a="http://schemas.openxmlformats.org/drawingml/2006/main">
            <a:r>
              <a:rPr lang="en-US" sz="2200" b="1">
                <a:solidFill>
                  <a:srgbClr val="1E3A5F"/>
                </a:solidFill>
              </a:rPr>
              <a:t>Curb-weight vs.</a:t>
            </a:r>
          </a:p>
          <a:p xmlns:a="http://schemas.openxmlformats.org/drawingml/2006/main">
            <a:r>
              <a:rPr lang="en-US" sz="2200" b="1">
                <a:solidFill>
                  <a:srgbClr val="1E3A5F"/>
                </a:solidFill>
              </a:rPr>
              <a:t>Highway-MPG</a:t>
            </a:r>
          </a:p>
        </p:txBody>
      </p:sp>
      <p:sp>
        <p:nvSpPr>
          <p:cNvPr id="100073" name="Bullet1"/>
          <p:cNvSpPr txBox="1"/>
          <p:nvPr/>
        </p:nvSpPr>
        <p:spPr>
          <a:xfrm xmlns:a="http://schemas.openxmlformats.org/drawingml/2006/main">
            <a:off x="540000" y="5184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Every additional 100 kg of curb weight reduces highway fuel economy by approximately 0.8 MPG across all manufacturer segments.</a:t>
            </a:r>
          </a:p>
        </p:txBody>
      </p:sp>
      <p:sp>
        <p:nvSpPr>
          <p:cNvPr id="100074" name="Bullet2"/>
          <p:cNvSpPr txBox="1"/>
          <p:nvPr/>
        </p:nvSpPr>
        <p:spPr>
          <a:xfrm xmlns:a="http://schemas.openxmlformats.org/drawingml/2006/main">
            <a:off x="540000" y="5472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Vehicles exceeding 1,650 kg curb weight systematically fail the sub-7.5 L/100km urban mobility efficiency benchmark.</a:t>
            </a:r>
          </a:p>
        </p:txBody>
      </p:sp>
      <p:sp>
        <p:nvSpPr>
          <p:cNvPr id="100075" name="Bullet3"/>
          <p:cNvSpPr txBox="1"/>
          <p:nvPr/>
        </p:nvSpPr>
        <p:spPr>
          <a:xfrm xmlns:a="http://schemas.openxmlformats.org/drawingml/2006/main">
            <a:off x="540000" y="5760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Curb-weight and horsepower co-vary at r = +0.74 meaning mass reduction alone is insufficient without concurrent powertrain rationalisation.</a:t>
            </a:r>
          </a:p>
        </p:txBody>
      </p:sp>
      <p:sp>
        <p:nvSpPr>
          <p:cNvPr id="100076" name="SlideNum"/>
          <p:cNvSpPr txBox="1"/>
          <p:nvPr/>
        </p:nvSpPr>
        <p:spPr>
          <a:xfrm xmlns:a="http://schemas.openxmlformats.org/drawingml/2006/main">
            <a:off x="10440000" y="6480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999999"/>
                </a:solidFill>
              </a:rPr>
              <a:t>8 / 10</a:t>
            </a:r>
          </a:p>
        </p:txBody>
      </p:sp>
      <p:pic>
        <p:nvPicPr>
          <p:cNvPr id="100098" name="CurbWeightImg"/>
          <p:cNvPicPr>
            <a:picLocks noChangeAspect="1"/>
          </p:cNvPicPr>
          <p:nvPr/>
        </p:nvPicPr>
        <p:blipFill>
          <a:blip xmlns:r="http://schemas.openxmlformats.org/officeDocument/2006/relationships" r:embed="Rb64b11d0baa94ee7"/>
          <a:stretch>
            <a:fillRect/>
          </a:stretch>
        </p:blipFill>
        <p:spPr>
          <a:xfrm>
            <a:off x="540000" y="1188000"/>
            <a:ext cx="6840000" cy="3780000"/>
          </a:xfrm>
          <a:prstGeom prst="rect">
            <a:avLst/>
          </a:prstGeom>
        </p:spPr>
      </p:pic>
    </p:spTree>
  </p:cSld>
</p:sld>
</file>

<file path=ppt/slides/slide9.xml><?xml version="1.0" encoding="utf-8"?>
<p:sld xmlns:a="http://schemas.openxmlformats.org/drawingml/2006/main" xmlns:p="http://schemas.openxmlformats.org/presentationml/2006/main">
  <p:cSld>
    <p:bg>
      <p:bgPr>
        <a:solidFill xmlns:a="http://schemas.openxmlformats.org/drawingml/2006/main">
          <a:srgbClr val="FFFFFF"/>
        </a:solidFill>
      </p:bgPr>
    </p:bg>
    <p:spTree>
      <p:nvGrpSpPr>
        <p:cNvPr id="1" name=""/>
        <p:cNvGrpSpPr/>
        <p:nvPr/>
      </p:nvGrpSpPr>
      <p:grpSpPr/>
      <p:sp>
        <p:nvSpPr>
          <p:cNvPr id="100077"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1E3A5F"/>
          </a:solidFill>
        </p:spPr>
        <p:txBody>
          <a:bodyPr xmlns:a="http://schemas.openxmlformats.org/drawingml/2006/main"/>
          <a:lstStyle xmlns:a="http://schemas.openxmlformats.org/drawingml/2006/main"/>
          <a:p xmlns:a="http://schemas.openxmlformats.org/drawingml/2006/main">
            <a:r>
              <a:rPr lang="en-US" sz="1600" b="1">
                <a:solidFill>
                  <a:srgbClr val="FFFFFF"/>
                </a:solidFill>
              </a:rPr>
              <a:t>Results: Actuarial Risk Pricing Mismatch</a:t>
            </a:r>
          </a:p>
        </p:txBody>
      </p:sp>
      <p:sp>
        <p:nvSpPr>
          <p:cNvPr id="100078" name="SlideTitle"/>
          <p:cNvSpPr txBox="1"/>
          <p:nvPr/>
        </p:nvSpPr>
        <p:spPr>
          <a:xfrm xmlns:a="http://schemas.openxmlformats.org/drawingml/2006/main">
            <a:off x="540000" y="54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1E3A5F"/>
                </a:solidFill>
              </a:rPr>
              <a:t>The Actuarial Mismatch: HP &gt;150 BHP Dominates Maximum Symboling Risk</a:t>
            </a:r>
          </a:p>
        </p:txBody>
      </p:sp>
      <p:sp>
        <p:nvSpPr>
          <p:cNvPr id="100080" name="StatMain"/>
          <p:cNvSpPr txBox="1"/>
          <p:nvPr/>
        </p:nvSpPr>
        <p:spPr>
          <a:xfrm xmlns:a="http://schemas.openxmlformats.org/drawingml/2006/main">
            <a:off x="7740000" y="1188000"/>
            <a:ext cx="3600000" cy="1440000"/>
          </a:xfrm>
          <a:prstGeom xmlns:a="http://schemas.openxmlformats.org/drawingml/2006/main" prst="rect">
            <a:avLst/>
          </a:prstGeom>
          <a:solidFill xmlns:a="http://schemas.openxmlformats.org/drawingml/2006/main">
            <a:srgbClr val="FADBD8"/>
          </a:solidFill>
        </p:spPr>
        <p:txBody>
          <a:bodyPr xmlns:a="http://schemas.openxmlformats.org/drawingml/2006/main"/>
          <a:lstStyle xmlns:a="http://schemas.openxmlformats.org/drawingml/2006/main"/>
          <a:p xmlns:a="http://schemas.openxmlformats.org/drawingml/2006/main">
            <a:r>
              <a:rPr lang="en-US" sz="2800" b="1">
                <a:solidFill>
                  <a:srgbClr val="C0392B"/>
                </a:solidFill>
              </a:rPr>
              <a:t>~78%</a:t>
            </a:r>
          </a:p>
          <a:p xmlns:a="http://schemas.openxmlformats.org/drawingml/2006/main">
            <a:r>
              <a:rPr lang="en-US" sz="2800" b="1">
                <a:solidFill>
                  <a:srgbClr val="C0392B"/>
                </a:solidFill>
              </a:rPr>
              <a:t>of max-risk vehicles</a:t>
            </a:r>
          </a:p>
          <a:p xmlns:a="http://schemas.openxmlformats.org/drawingml/2006/main">
            <a:r>
              <a:rPr lang="en-US" sz="2800" b="1">
                <a:solidFill>
                  <a:srgbClr val="C0392B"/>
                </a:solidFill>
              </a:rPr>
              <a:t>have HP &gt; 150 BHP</a:t>
            </a:r>
          </a:p>
        </p:txBody>
      </p:sp>
      <p:sp>
        <p:nvSpPr>
          <p:cNvPr id="100081" name="StatCorr"/>
          <p:cNvSpPr txBox="1"/>
          <p:nvPr/>
        </p:nvSpPr>
        <p:spPr>
          <a:xfrm xmlns:a="http://schemas.openxmlformats.org/drawingml/2006/main">
            <a:off x="7740000" y="2808000"/>
            <a:ext cx="3600000" cy="1080000"/>
          </a:xfrm>
          <a:prstGeom xmlns:a="http://schemas.openxmlformats.org/drawingml/2006/main" prst="rect">
            <a:avLst/>
          </a:prstGeom>
          <a:solidFill xmlns:a="http://schemas.openxmlformats.org/drawingml/2006/main">
            <a:srgbClr val="DBEAFE"/>
          </a:solidFill>
        </p:spPr>
        <p:txBody>
          <a:bodyPr xmlns:a="http://schemas.openxmlformats.org/drawingml/2006/main"/>
          <a:lstStyle xmlns:a="http://schemas.openxmlformats.org/drawingml/2006/main"/>
          <a:p xmlns:a="http://schemas.openxmlformats.org/drawingml/2006/main">
            <a:r>
              <a:rPr lang="en-US" sz="2400" b="1">
                <a:solidFill>
                  <a:srgbClr val="1E3A5F"/>
                </a:solidFill>
              </a:rPr>
              <a:t>r = +0.54</a:t>
            </a:r>
          </a:p>
          <a:p xmlns:a="http://schemas.openxmlformats.org/drawingml/2006/main">
            <a:r>
              <a:rPr lang="en-US" sz="2400" b="1">
                <a:solidFill>
                  <a:srgbClr val="1E3A5F"/>
                </a:solidFill>
              </a:rPr>
              <a:t>Horsepower vs.</a:t>
            </a:r>
          </a:p>
          <a:p xmlns:a="http://schemas.openxmlformats.org/drawingml/2006/main">
            <a:r>
              <a:rPr lang="en-US" sz="2400" b="1">
                <a:solidFill>
                  <a:srgbClr val="1E3A5F"/>
                </a:solidFill>
              </a:rPr>
              <a:t>Symboling risk</a:t>
            </a:r>
          </a:p>
        </p:txBody>
      </p:sp>
      <p:sp>
        <p:nvSpPr>
          <p:cNvPr id="100082" name="CostTable"/>
          <p:cNvSpPr txBox="1"/>
          <p:nvPr/>
        </p:nvSpPr>
        <p:spPr>
          <a:xfrm xmlns:a="http://schemas.openxmlformats.org/drawingml/2006/main">
            <a:off x="540000" y="4968000"/>
            <a:ext cx="10800000" cy="1368000"/>
          </a:xfrm>
          <a:prstGeom xmlns:a="http://schemas.openxmlformats.org/drawingml/2006/main" prst="rect">
            <a:avLst/>
          </a:prstGeom>
          <a:solidFill xmlns:a="http://schemas.openxmlformats.org/drawingml/2006/main">
            <a:srgbClr val="F0F4F8"/>
          </a:solidFill>
        </p:spPr>
        <p:txBody>
          <a:bodyPr xmlns:a="http://schemas.openxmlformats.org/drawingml/2006/main"/>
          <a:lstStyle xmlns:a="http://schemas.openxmlformats.org/drawingml/2006/main"/>
          <a:p xmlns:a="http://schemas.openxmlformats.org/drawingml/2006/main">
            <a:r>
              <a:rPr lang="en-US" sz="1300">
                <a:solidFill>
                  <a:srgbClr val="1E3A5F"/>
                </a:solidFill>
              </a:rPr>
              <a:t>INSURANCE COST IMPACT</a:t>
            </a:r>
          </a:p>
          <a:p xmlns:a="http://schemas.openxmlformats.org/drawingml/2006/main">
            <a:r>
              <a:rPr lang="en-US" sz="1300">
                <a:solidFill>
                  <a:srgbClr val="1E3A5F"/>
                </a:solidFill>
              </a:rPr>
              <a:t/>
            </a:r>
          </a:p>
          <a:p xmlns:a="http://schemas.openxmlformats.org/drawingml/2006/main">
            <a:r>
              <a:rPr lang="en-US" sz="1300">
                <a:solidFill>
                  <a:srgbClr val="1E3A5F"/>
                </a:solidFill>
              </a:rPr>
              <a:t>Fleet operator premium delta (Symboling 0 vs +2):  +22 to +35%</a:t>
            </a:r>
          </a:p>
          <a:p xmlns:a="http://schemas.openxmlformats.org/drawingml/2006/main">
            <a:r>
              <a:rPr lang="en-US" sz="1300">
                <a:solidFill>
                  <a:srgbClr val="1E3A5F"/>
                </a:solidFill>
              </a:rPr>
              <a:t>Retail consumer annual penalty (UK mid-segment):   est. GBP 350 to 780</a:t>
            </a:r>
          </a:p>
          <a:p xmlns:a="http://schemas.openxmlformats.org/drawingml/2006/main">
            <a:r>
              <a:rPr lang="en-US" sz="1300">
                <a:solidFill>
                  <a:srgbClr val="1E3A5F"/>
                </a:solidFill>
              </a:rPr>
              <a:t/>
            </a:r>
          </a:p>
          <a:p xmlns:a="http://schemas.openxmlformats.org/drawingml/2006/main">
            <a:r>
              <a:rPr lang="en-US" sz="1300">
                <a:solidFill>
                  <a:srgbClr val="1E3A5F"/>
                </a:solidFill>
              </a:rPr>
              <a:t>Sub-150 BHP turbo range = Symboling 0 to +1 — premium low-risk whitespace</a:t>
            </a:r>
          </a:p>
        </p:txBody>
      </p:sp>
      <p:sp>
        <p:nvSpPr>
          <p:cNvPr id="100083" name="Bullet1"/>
          <p:cNvSpPr txBox="1"/>
          <p:nvPr/>
        </p:nvSpPr>
        <p:spPr>
          <a:xfrm xmlns:a="http://schemas.openxmlformats.org/drawingml/2006/main">
            <a:off x="540000" y="6408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1E3A5F"/>
                </a:solidFill>
              </a:rPr>
              <a:t>• Vehicles with HP above 150 BHP account for approximately 78% of maximum symboling risk assignments in the dataset.</a:t>
            </a:r>
          </a:p>
        </p:txBody>
      </p:sp>
      <p:sp>
        <p:nvSpPr>
          <p:cNvPr id="100084" name="SlideNum"/>
          <p:cNvSpPr txBox="1"/>
          <p:nvPr/>
        </p:nvSpPr>
        <p:spPr>
          <a:xfrm xmlns:a="http://schemas.openxmlformats.org/drawingml/2006/main">
            <a:off x="10440000" y="6480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999999"/>
                </a:solidFill>
              </a:rPr>
              <a:t>9 / 10</a:t>
            </a:r>
          </a:p>
        </p:txBody>
      </p:sp>
      <p:pic>
        <p:nvPicPr>
          <p:cNvPr id="100099" name="SymbolingBarImg"/>
          <p:cNvPicPr>
            <a:picLocks noChangeAspect="1"/>
          </p:cNvPicPr>
          <p:nvPr/>
        </p:nvPicPr>
        <p:blipFill>
          <a:blip xmlns:r="http://schemas.openxmlformats.org/officeDocument/2006/relationships" r:embed="R45184150e9ed42a3"/>
          <a:stretch>
            <a:fillRect/>
          </a:stretch>
        </p:blipFill>
        <p:spPr>
          <a:xfrm>
            <a:off x="540000" y="1188000"/>
            <a:ext cx="6840000" cy="3600000"/>
          </a:xfrm>
          <a:prstGeom prst="rect">
            <a:avLst/>
          </a:prstGeom>
        </p:spPr>
      </p:pic>
    </p:spTree>
  </p:cSld>
</p:sld>
</file>

<file path=ppt/slides/slide10.xml><?xml version="1.0" encoding="utf-8"?>
<p:sld xmlns:p="http://schemas.openxmlformats.org/presentationml/2006/main">
  <p:cSld>
    <p:bg>
      <p:bgPr>
        <a:solidFill xmlns:a="http://schemas.openxmlformats.org/drawingml/2006/main">
          <a:srgbClr val="1E3A5F"/>
        </a:solidFill>
      </p:bgPr>
    </p:bg>
    <p:spTree>
      <p:nvGrpSpPr>
        <p:cNvPr id="1" name=""/>
        <p:cNvGrpSpPr/>
        <p:nvPr/>
      </p:nvGrpSpPr>
      <p:grpSpPr/>
      <p:sp>
        <p:nvSpPr>
          <p:cNvPr id="100085" name="TopBar"/>
          <p:cNvSpPr txBox="1"/>
          <p:nvPr/>
        </p:nvSpPr>
        <p:spPr>
          <a:xfrm xmlns:a="http://schemas.openxmlformats.org/drawingml/2006/main">
            <a:off x="0" y="0"/>
            <a:ext cx="12193200" cy="432000"/>
          </a:xfrm>
          <a:prstGeom xmlns:a="http://schemas.openxmlformats.org/drawingml/2006/main" prst="rect">
            <a:avLst/>
          </a:prstGeom>
          <a:solidFill xmlns:a="http://schemas.openxmlformats.org/drawingml/2006/main">
            <a:srgbClr val="C0392B"/>
          </a:solidFill>
        </p:spPr>
        <p:txBody>
          <a:bodyPr xmlns:a="http://schemas.openxmlformats.org/drawingml/2006/main"/>
          <a:lstStyle xmlns:a="http://schemas.openxmlformats.org/drawingml/2006/main"/>
          <a:p xmlns:a="http://schemas.openxmlformats.org/drawingml/2006/main">
            <a:r>
              <a:rPr lang="en-US" sz="1600" b="1">
                <a:solidFill>
                  <a:srgbClr val="FFFFFF"/>
                </a:solidFill>
              </a:rPr>
              <a:t>Strategic Recommendations and Future Work</a:t>
            </a:r>
          </a:p>
        </p:txBody>
      </p:sp>
      <p:sp>
        <p:nvSpPr>
          <p:cNvPr id="100086" name="SlideTitle"/>
          <p:cNvSpPr txBox="1"/>
          <p:nvPr/>
        </p:nvSpPr>
        <p:spPr>
          <a:xfrm xmlns:a="http://schemas.openxmlformats.org/drawingml/2006/main">
            <a:off x="540000" y="540000"/>
            <a:ext cx="1080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400" b="1">
                <a:solidFill>
                  <a:srgbClr val="FFFFFF"/>
                </a:solidFill>
              </a:rPr>
              <a:t>Three Actionable Strategies and the Road to BEV Portfolio Intelligence</a:t>
            </a:r>
          </a:p>
        </p:txBody>
      </p:sp>
      <p:sp>
        <p:nvSpPr>
          <p:cNvPr id="100087" name="Strat1"/>
          <p:cNvSpPr txBox="1"/>
          <p:nvPr/>
        </p:nvSpPr>
        <p:spPr>
          <a:xfrm xmlns:a="http://schemas.openxmlformats.org/drawingml/2006/main">
            <a:off x="540000" y="1260000"/>
            <a:ext cx="3420000" cy="2700000"/>
          </a:xfrm>
          <a:prstGeom xmlns:a="http://schemas.openxmlformats.org/drawingml/2006/main" prst="rect">
            <a:avLst/>
          </a:prstGeom>
          <a:solidFill xmlns:a="http://schemas.openxmlformats.org/drawingml/2006/main">
            <a:srgbClr val="27AE60"/>
          </a:solidFill>
        </p:spPr>
        <p:txBody>
          <a:bodyPr xmlns:a="http://schemas.openxmlformats.org/drawingml/2006/main"/>
          <a:lstStyle xmlns:a="http://schemas.openxmlformats.org/drawingml/2006/main"/>
          <a:p xmlns:a="http://schemas.openxmlformats.org/drawingml/2006/main">
            <a:r>
              <a:rPr lang="en-US" sz="1400">
                <a:solidFill>
                  <a:srgbClr val="FFFFFF"/>
                </a:solidFill>
              </a:rPr>
              <a:t>STRATEGY 1</a:t>
            </a:r>
          </a:p>
          <a:p xmlns:a="http://schemas.openxmlformats.org/drawingml/2006/main">
            <a:r>
              <a:rPr lang="en-US" sz="1400">
                <a:solidFill>
                  <a:srgbClr val="FFFFFF"/>
                </a:solidFill>
              </a:rPr>
              <a:t>Displacement Rationalisation</a:t>
            </a:r>
          </a:p>
          <a:p xmlns:a="http://schemas.openxmlformats.org/drawingml/2006/main">
            <a:r>
              <a:rPr lang="en-US" sz="1400">
                <a:solidFill>
                  <a:srgbClr val="FFFFFF"/>
                </a:solidFill>
              </a:rPr>
              <a:t/>
            </a:r>
          </a:p>
          <a:p xmlns:a="http://schemas.openxmlformats.org/drawingml/2006/main">
            <a:r>
              <a:rPr lang="en-US" sz="1400">
                <a:solidFill>
                  <a:srgbClr val="FFFFFF"/>
                </a:solidFill>
              </a:rPr>
              <a:t>Enforce turbo-only above 2.0L</a:t>
            </a:r>
          </a:p>
          <a:p xmlns:a="http://schemas.openxmlformats.org/drawingml/2006/main">
            <a:r>
              <a:rPr lang="en-US" sz="1400">
                <a:solidFill>
                  <a:srgbClr val="FFFFFF"/>
                </a:solidFill>
              </a:rPr>
              <a:t>Projected CO2 reduction: 12-18%</a:t>
            </a:r>
          </a:p>
          <a:p xmlns:a="http://schemas.openxmlformats.org/drawingml/2006/main">
            <a:r>
              <a:rPr lang="en-US" sz="1400">
                <a:solidFill>
                  <a:srgbClr val="FFFFFF"/>
                </a:solidFill>
              </a:rPr>
              <a:t>Aligned with CAFE 2030 trajectory</a:t>
            </a:r>
          </a:p>
        </p:txBody>
      </p:sp>
      <p:sp>
        <p:nvSpPr>
          <p:cNvPr id="100088" name="Strat2"/>
          <p:cNvSpPr txBox="1"/>
          <p:nvPr/>
        </p:nvSpPr>
        <p:spPr>
          <a:xfrm xmlns:a="http://schemas.openxmlformats.org/drawingml/2006/main">
            <a:off x="4320000" y="1260000"/>
            <a:ext cx="3420000" cy="2700000"/>
          </a:xfrm>
          <a:prstGeom xmlns:a="http://schemas.openxmlformats.org/drawingml/2006/main" prst="rect">
            <a:avLst/>
          </a:prstGeom>
          <a:solidFill xmlns:a="http://schemas.openxmlformats.org/drawingml/2006/main">
            <a:srgbClr val="2980B9"/>
          </a:solidFill>
        </p:spPr>
        <p:txBody>
          <a:bodyPr xmlns:a="http://schemas.openxmlformats.org/drawingml/2006/main"/>
          <a:lstStyle xmlns:a="http://schemas.openxmlformats.org/drawingml/2006/main"/>
          <a:p xmlns:a="http://schemas.openxmlformats.org/drawingml/2006/main">
            <a:r>
              <a:rPr lang="en-US" sz="1400">
                <a:solidFill>
                  <a:srgbClr val="FFFFFF"/>
                </a:solidFill>
              </a:rPr>
              <a:t>STRATEGY 2</a:t>
            </a:r>
          </a:p>
          <a:p xmlns:a="http://schemas.openxmlformats.org/drawingml/2006/main">
            <a:r>
              <a:rPr lang="en-US" sz="1400">
                <a:solidFill>
                  <a:srgbClr val="FFFFFF"/>
                </a:solidFill>
              </a:rPr>
              <a:t>Fleet Weight Programme</a:t>
            </a:r>
          </a:p>
          <a:p xmlns:a="http://schemas.openxmlformats.org/drawingml/2006/main">
            <a:r>
              <a:rPr lang="en-US" sz="1400">
                <a:solidFill>
                  <a:srgbClr val="FFFFFF"/>
                </a:solidFill>
              </a:rPr>
              <a:t/>
            </a:r>
          </a:p>
          <a:p xmlns:a="http://schemas.openxmlformats.org/drawingml/2006/main">
            <a:r>
              <a:rPr lang="en-US" sz="1400">
                <a:solidFill>
                  <a:srgbClr val="FFFFFF"/>
                </a:solidFill>
              </a:rPr>
              <a:t>1,650 kg design ceiling</a:t>
            </a:r>
          </a:p>
          <a:p xmlns:a="http://schemas.openxmlformats.org/drawingml/2006/main">
            <a:r>
              <a:rPr lang="en-US" sz="1400">
                <a:solidFill>
                  <a:srgbClr val="FFFFFF"/>
                </a:solidFill>
              </a:rPr>
              <a:t>Composite lightweighting: 80-120 kg</a:t>
            </a:r>
          </a:p>
          <a:p xmlns:a="http://schemas.openxmlformats.org/drawingml/2006/main">
            <a:r>
              <a:rPr lang="en-US" sz="1400">
                <a:solidFill>
                  <a:srgbClr val="FFFFFF"/>
                </a:solidFill>
              </a:rPr>
              <a:t>Fuel compliance justified by data</a:t>
            </a:r>
          </a:p>
        </p:txBody>
      </p:sp>
      <p:sp>
        <p:nvSpPr>
          <p:cNvPr id="100089" name="Strat3"/>
          <p:cNvSpPr txBox="1"/>
          <p:nvPr/>
        </p:nvSpPr>
        <p:spPr>
          <a:xfrm xmlns:a="http://schemas.openxmlformats.org/drawingml/2006/main">
            <a:off x="8100000" y="1260000"/>
            <a:ext cx="3420000" cy="2700000"/>
          </a:xfrm>
          <a:prstGeom xmlns:a="http://schemas.openxmlformats.org/drawingml/2006/main" prst="rect">
            <a:avLst/>
          </a:prstGeom>
          <a:solidFill xmlns:a="http://schemas.openxmlformats.org/drawingml/2006/main">
            <a:srgbClr val="8E44AD"/>
          </a:solidFill>
        </p:spPr>
        <p:txBody>
          <a:bodyPr xmlns:a="http://schemas.openxmlformats.org/drawingml/2006/main"/>
          <a:lstStyle xmlns:a="http://schemas.openxmlformats.org/drawingml/2006/main"/>
          <a:p xmlns:a="http://schemas.openxmlformats.org/drawingml/2006/main">
            <a:r>
              <a:rPr lang="en-US" sz="1400">
                <a:solidFill>
                  <a:srgbClr val="FFFFFF"/>
                </a:solidFill>
              </a:rPr>
              <a:t>STRATEGY 3</a:t>
            </a:r>
          </a:p>
          <a:p xmlns:a="http://schemas.openxmlformats.org/drawingml/2006/main">
            <a:r>
              <a:rPr lang="en-US" sz="1400">
                <a:solidFill>
                  <a:srgbClr val="FFFFFF"/>
                </a:solidFill>
              </a:rPr>
              <a:t>Insurance Score Integration</a:t>
            </a:r>
          </a:p>
          <a:p xmlns:a="http://schemas.openxmlformats.org/drawingml/2006/main">
            <a:r>
              <a:rPr lang="en-US" sz="1400">
                <a:solidFill>
                  <a:srgbClr val="FFFFFF"/>
                </a:solidFill>
              </a:rPr>
              <a:t/>
            </a:r>
          </a:p>
          <a:p xmlns:a="http://schemas.openxmlformats.org/drawingml/2006/main">
            <a:r>
              <a:rPr lang="en-US" sz="1400">
                <a:solidFill>
                  <a:srgbClr val="FFFFFF"/>
                </a:solidFill>
              </a:rPr>
              <a:t>Embed symboling in product sign-off</a:t>
            </a:r>
          </a:p>
          <a:p xmlns:a="http://schemas.openxmlformats.org/drawingml/2006/main">
            <a:r>
              <a:rPr lang="en-US" sz="1400">
                <a:solidFill>
                  <a:srgbClr val="FFFFFF"/>
                </a:solidFill>
              </a:rPr>
              <a:t>Target score: 0 to -1 for fleet channel</a:t>
            </a:r>
          </a:p>
          <a:p xmlns:a="http://schemas.openxmlformats.org/drawingml/2006/main">
            <a:r>
              <a:rPr lang="en-US" sz="1400">
                <a:solidFill>
                  <a:srgbClr val="FFFFFF"/>
                </a:solidFill>
              </a:rPr>
              <a:t>Competitive TCO differentiator</a:t>
            </a:r>
          </a:p>
        </p:txBody>
      </p:sp>
      <p:sp>
        <p:nvSpPr>
          <p:cNvPr id="100090" name="BEVRoadmap"/>
          <p:cNvSpPr txBox="1"/>
          <p:nvPr/>
        </p:nvSpPr>
        <p:spPr>
          <a:xfrm xmlns:a="http://schemas.openxmlformats.org/drawingml/2006/main">
            <a:off x="540000" y="4140000"/>
            <a:ext cx="10800000" cy="1080000"/>
          </a:xfrm>
          <a:prstGeom xmlns:a="http://schemas.openxmlformats.org/drawingml/2006/main" prst="rect">
            <a:avLst/>
          </a:prstGeom>
          <a:solidFill xmlns:a="http://schemas.openxmlformats.org/drawingml/2006/main">
            <a:srgbClr val="2C3E50"/>
          </a:solidFill>
        </p:spPr>
        <p:txBody>
          <a:bodyPr xmlns:a="http://schemas.openxmlformats.org/drawingml/2006/main"/>
          <a:lstStyle xmlns:a="http://schemas.openxmlformats.org/drawingml/2006/main"/>
          <a:p xmlns:a="http://schemas.openxmlformats.org/drawingml/2006/main">
            <a:r>
              <a:rPr lang="en-US" sz="1300">
                <a:solidFill>
                  <a:srgbClr val="FFFFFF"/>
                </a:solidFill>
              </a:rPr>
              <a:t>BEV EXTENSION ROADMAP</a:t>
            </a:r>
          </a:p>
          <a:p xmlns:a="http://schemas.openxmlformats.org/drawingml/2006/main">
            <a:r>
              <a:rPr lang="en-US" sz="1300">
                <a:solidFill>
                  <a:srgbClr val="FFFFFF"/>
                </a:solidFill>
              </a:rPr>
              <a:t>Current: ICE EDA Framework  &gt;&gt;  Phase 1: BEV Attribute Mapping (kWh, Wh/km, range)  &gt;&gt;  Phase 2: ICMP Extension to BEV Sparse Columns  &gt;&gt;  Phase 3: Pearson Correlation Battery vs. TCO  &gt;&gt;  Phase 4: Longitudinal Fleet CO2 Trajectory Prediction</a:t>
            </a:r>
          </a:p>
        </p:txBody>
      </p:sp>
      <p:sp>
        <p:nvSpPr>
          <p:cNvPr id="100091" name="Bullet1"/>
          <p:cNvSpPr txBox="1"/>
          <p:nvPr/>
        </p:nvSpPr>
        <p:spPr>
          <a:xfrm xmlns:a="http://schemas.openxmlformats.org/drawingml/2006/main">
            <a:off x="540000" y="5400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AEC6E8"/>
                </a:solidFill>
              </a:rPr>
              <a:t>• Enforcing turbo-only above 2.0L is projected to reduce fleet CO2 intensity by 12-18% against the current portfolio baseline.</a:t>
            </a:r>
          </a:p>
        </p:txBody>
      </p:sp>
      <p:sp>
        <p:nvSpPr>
          <p:cNvPr id="100092" name="Bullet2"/>
          <p:cNvSpPr txBox="1"/>
          <p:nvPr/>
        </p:nvSpPr>
        <p:spPr>
          <a:xfrm xmlns:a="http://schemas.openxmlformats.org/drawingml/2006/main">
            <a:off x="540000" y="5688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AEC6E8"/>
                </a:solidFill>
              </a:rPr>
              <a:t>• The CRISP-DM ICMP framework is directly transferable to BEV datasets with battery capacity, range, and Wh/km attributes.</a:t>
            </a:r>
          </a:p>
        </p:txBody>
      </p:sp>
      <p:sp>
        <p:nvSpPr>
          <p:cNvPr id="100093" name="Bullet3"/>
          <p:cNvSpPr txBox="1"/>
          <p:nvPr/>
        </p:nvSpPr>
        <p:spPr>
          <a:xfrm xmlns:a="http://schemas.openxmlformats.org/drawingml/2006/main">
            <a:off x="540000" y="5976000"/>
            <a:ext cx="10800000" cy="25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a:solidFill>
                  <a:srgbClr val="AEC6E8"/>
                </a:solidFill>
              </a:rPr>
              <a:t>• Integrating symboling projection into product sign-off creates a measurable competitive TCO advantage in fleet channels.</a:t>
            </a:r>
          </a:p>
        </p:txBody>
      </p:sp>
      <p:sp>
        <p:nvSpPr>
          <p:cNvPr id="100094" name="ThankYou"/>
          <p:cNvSpPr txBox="1"/>
          <p:nvPr/>
        </p:nvSpPr>
        <p:spPr>
          <a:xfrm xmlns:a="http://schemas.openxmlformats.org/drawingml/2006/main">
            <a:off x="540000" y="6300000"/>
            <a:ext cx="1080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1">
                <a:solidFill>
                  <a:srgbClr val="FFFFFF"/>
                </a:solidFill>
              </a:rPr>
              <a:t>Thank you — Questions welcome</a:t>
            </a:r>
          </a:p>
        </p:txBody>
      </p:sp>
      <p:sp>
        <p:nvSpPr>
          <p:cNvPr id="100095" name="SlideNum"/>
          <p:cNvSpPr txBox="1"/>
          <p:nvPr/>
        </p:nvSpPr>
        <p:spPr>
          <a:xfrm xmlns:a="http://schemas.openxmlformats.org/drawingml/2006/main">
            <a:off x="10440000" y="6480000"/>
            <a:ext cx="14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100">
                <a:solidFill>
                  <a:srgbClr val="AEC6E8"/>
                </a:solidFill>
              </a:rPr>
              <a:t>10 / 10</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OfficeCLI/1.0.155</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2026-10-07T15:49:28Z</dcterms:created>
  <cp:lastModifiedBy>OfficeCLI</cp:lastModifiedBy>
  <dcterms:modified xsi:type="dcterms:W3CDTF">2026-10-07T15:49:28Z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1.0.155</vt:lpwstr>
  </op:property>
  <op:property fmtid="{D5CDD505-2E9C-101B-9397-08002B2CF9AE}" pid="3" name="OfficeCLI.LastModified">
    <vt:lpwstr xmlns:vt="http://schemas.openxmlformats.org/officeDocument/2006/docPropsVTypes">2026-10-07T15:59:40Z</vt:lpwstr>
  </op:property>
</op:Properties>
</file>